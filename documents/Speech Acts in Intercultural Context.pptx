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21"/>
  </p:notesMasterIdLst>
  <p:handoutMasterIdLst>
    <p:handoutMasterId r:id="rId22"/>
  </p:handoutMasterIdLst>
  <p:sldIdLst>
    <p:sldId id="257" r:id="rId2"/>
    <p:sldId id="258" r:id="rId3"/>
    <p:sldId id="259" r:id="rId4"/>
    <p:sldId id="260" r:id="rId5"/>
    <p:sldId id="262" r:id="rId6"/>
    <p:sldId id="261" r:id="rId7"/>
    <p:sldId id="263" r:id="rId8"/>
    <p:sldId id="265" r:id="rId9"/>
    <p:sldId id="266" r:id="rId10"/>
    <p:sldId id="272" r:id="rId11"/>
    <p:sldId id="274" r:id="rId12"/>
    <p:sldId id="275" r:id="rId13"/>
    <p:sldId id="273" r:id="rId14"/>
    <p:sldId id="278" r:id="rId15"/>
    <p:sldId id="277" r:id="rId16"/>
    <p:sldId id="276" r:id="rId17"/>
    <p:sldId id="269" r:id="rId18"/>
    <p:sldId id="270" r:id="rId19"/>
    <p:sldId id="279" r:id="rId20"/>
  </p:sldIdLst>
  <p:sldSz cx="12192000" cy="6858000"/>
  <p:notesSz cx="6858000" cy="9144000"/>
  <p:defaultTextStyle>
    <a:defPPr rtl="0"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7296" userDrawn="1">
          <p15:clr>
            <a:srgbClr val="A4A3A4"/>
          </p15:clr>
        </p15:guide>
        <p15:guide id="4" orient="horz" pos="41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89911" autoAdjust="0"/>
  </p:normalViewPr>
  <p:slideViewPr>
    <p:cSldViewPr snapToGrid="0">
      <p:cViewPr>
        <p:scale>
          <a:sx n="86" d="100"/>
          <a:sy n="86" d="100"/>
        </p:scale>
        <p:origin x="470" y="10"/>
      </p:cViewPr>
      <p:guideLst>
        <p:guide orient="horz" pos="2160"/>
        <p:guide pos="3840"/>
        <p:guide pos="7296"/>
        <p:guide orient="horz" pos="412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howGuides="1">
      <p:cViewPr varScale="1">
        <p:scale>
          <a:sx n="90" d="100"/>
          <a:sy n="90" d="100"/>
        </p:scale>
        <p:origin x="2850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BE3387C1-8EFB-44F7-8485-D662F1CF7333}" type="datetime1">
              <a:rPr lang="en-GB" smtClean="0"/>
              <a:t>14/03/2026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C64E50CC-F33A-4EF4-9F12-93EC4A21A0CF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2329507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88D6434E-09F1-48C0-A525-B5A7008B7802}" type="datetime1">
              <a:rPr lang="en-GB" noProof="0" smtClean="0"/>
              <a:t>14/03/2026</a:t>
            </a:fld>
            <a:endParaRPr lang="en-GB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GB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n-GB" noProof="0" dirty="0"/>
              <a:t>Click to edit Master text styles</a:t>
            </a:r>
          </a:p>
          <a:p>
            <a:pPr lvl="1" rtl="0"/>
            <a:r>
              <a:rPr lang="en-GB" noProof="0" dirty="0"/>
              <a:t>Second level</a:t>
            </a:r>
          </a:p>
          <a:p>
            <a:pPr lvl="2" rtl="0"/>
            <a:r>
              <a:rPr lang="en-GB" noProof="0" dirty="0"/>
              <a:t>Third level</a:t>
            </a:r>
          </a:p>
          <a:p>
            <a:pPr lvl="3" rtl="0"/>
            <a:r>
              <a:rPr lang="en-GB" noProof="0" dirty="0"/>
              <a:t>Fourth level</a:t>
            </a:r>
          </a:p>
          <a:p>
            <a:pPr lvl="4" rtl="0"/>
            <a:r>
              <a:rPr lang="en-GB" noProof="0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32674CE4-FBD8-4481-AEFB-CA53E599A745}" type="slidenum">
              <a:rPr lang="en-GB" noProof="0" smtClean="0"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27326818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32674CE4-FBD8-4481-AEFB-CA53E599A745}" type="slidenum">
              <a:rPr lang="en-GB" smtClean="0"/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479742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en-GB" dirty="0"/>
              <a:t>How presentation will benefit audience: Adult learners are more interested in a subject if they know how or why it is important to them.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en-GB" dirty="0"/>
              <a:t>Presenter’s level of expertise in the subject: Briefly state your credentials in this area, or explain why participants should listen to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en-GB" smtClean="0"/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88670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r>
              <a:rPr lang="en-GB" dirty="0"/>
              <a:t>Lesson descriptions should be brief.</a:t>
            </a:r>
          </a:p>
          <a:p>
            <a:pPr rtl="0"/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en-GB" smtClean="0"/>
              <a:t>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558711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r>
              <a:rPr lang="en-GB" b="1" dirty="0"/>
              <a:t>Example objectives</a:t>
            </a:r>
          </a:p>
          <a:p>
            <a:pPr marL="0" indent="0" rtl="0">
              <a:buFont typeface="Arial" panose="020B0604020202020204" pitchFamily="34" charset="0"/>
              <a:buNone/>
            </a:pPr>
            <a:r>
              <a:rPr lang="en-GB" dirty="0"/>
              <a:t>At the end of this lesson, you will be able to: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en-GB" dirty="0"/>
              <a:t>Save files to the team Web server.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en-GB" dirty="0"/>
              <a:t>Move files to different locations on the team Web server.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en-GB" dirty="0"/>
              <a:t>Share files on the team Web server.</a:t>
            </a:r>
          </a:p>
          <a:p>
            <a:pPr rtl="0"/>
            <a:endParaRPr lang="en-GB" dirty="0"/>
          </a:p>
          <a:p>
            <a:pPr rtl="0"/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en-GB" smtClean="0"/>
              <a:t>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694413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32674CE4-FBD8-4481-AEFB-CA53E599A745}" type="slidenum">
              <a:rPr lang="en-GB" smtClean="0"/>
              <a:t>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935577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32674CE4-FBD8-4481-AEFB-CA53E599A745}" type="slidenum">
              <a:rPr lang="en-GB" smtClean="0"/>
              <a:t>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010505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5800B302-F4DC-4547-9C74-CF794137D166}" type="slidenum">
              <a:rPr lang="en-GB" smtClean="0"/>
              <a:t>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086555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32674CE4-FBD8-4481-AEFB-CA53E599A745}" type="slidenum">
              <a:rPr lang="en-GB" smtClean="0"/>
              <a:t>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336863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32674CE4-FBD8-4481-AEFB-CA53E599A745}" type="slidenum">
              <a:rPr lang="en-GB" smtClean="0"/>
              <a:t>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566603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32674CE4-FBD8-4481-AEFB-CA53E599A745}" type="slidenum">
              <a:rPr lang="en-GB" smtClean="0"/>
              <a:t>10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360263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32674CE4-FBD8-4481-AEFB-CA53E599A745}" type="slidenum">
              <a:rPr lang="en-GB" smtClean="0"/>
              <a:t>11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800268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32674CE4-FBD8-4481-AEFB-CA53E599A745}" type="slidenum">
              <a:rPr lang="en-GB" smtClean="0"/>
              <a:t>12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132336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32674CE4-FBD8-4481-AEFB-CA53E599A745}" type="slidenum">
              <a:rPr lang="en-GB" smtClean="0"/>
              <a:t>13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9147707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32674CE4-FBD8-4481-AEFB-CA53E599A745}" type="slidenum">
              <a:rPr lang="en-GB" smtClean="0"/>
              <a:t>14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470869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32674CE4-FBD8-4481-AEFB-CA53E599A745}" type="slidenum">
              <a:rPr lang="en-GB" smtClean="0"/>
              <a:t>15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1977575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32674CE4-FBD8-4481-AEFB-CA53E599A745}" type="slidenum">
              <a:rPr lang="en-GB" smtClean="0"/>
              <a:t>16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2976470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32674CE4-FBD8-4481-AEFB-CA53E599A745}" type="slidenum">
              <a:rPr lang="en-GB" smtClean="0"/>
              <a:t>17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1378580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32674CE4-FBD8-4481-AEFB-CA53E599A745}" type="slidenum">
              <a:rPr lang="en-GB" smtClean="0"/>
              <a:t>18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362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0" y="0"/>
            <a:ext cx="12192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en-GB" sz="1800" noProof="0" dirty="0"/>
          </a:p>
        </p:txBody>
      </p:sp>
      <p:sp>
        <p:nvSpPr>
          <p:cNvPr id="23" name="Rectangle 22"/>
          <p:cNvSpPr/>
          <p:nvPr/>
        </p:nvSpPr>
        <p:spPr>
          <a:xfrm flipV="1">
            <a:off x="7213577" y="3810001"/>
            <a:ext cx="4978425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en-GB" sz="1800" noProof="0" dirty="0"/>
          </a:p>
        </p:txBody>
      </p:sp>
      <p:sp>
        <p:nvSpPr>
          <p:cNvPr id="24" name="Rectangle 23"/>
          <p:cNvSpPr/>
          <p:nvPr/>
        </p:nvSpPr>
        <p:spPr>
          <a:xfrm flipV="1">
            <a:off x="7213601" y="3897010"/>
            <a:ext cx="49784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en-GB" sz="1800" noProof="0" dirty="0"/>
          </a:p>
        </p:txBody>
      </p:sp>
      <p:sp>
        <p:nvSpPr>
          <p:cNvPr id="25" name="Rectangle 24"/>
          <p:cNvSpPr/>
          <p:nvPr/>
        </p:nvSpPr>
        <p:spPr>
          <a:xfrm flipV="1">
            <a:off x="7213601" y="4115167"/>
            <a:ext cx="49784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en-GB" sz="1800" noProof="0" dirty="0"/>
          </a:p>
        </p:txBody>
      </p:sp>
      <p:sp>
        <p:nvSpPr>
          <p:cNvPr id="26" name="Rectangle 25"/>
          <p:cNvSpPr/>
          <p:nvPr/>
        </p:nvSpPr>
        <p:spPr>
          <a:xfrm flipV="1">
            <a:off x="7213600" y="4164403"/>
            <a:ext cx="262128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en-GB" sz="1800" noProof="0" dirty="0"/>
          </a:p>
        </p:txBody>
      </p:sp>
      <p:sp>
        <p:nvSpPr>
          <p:cNvPr id="27" name="Rectangle 26"/>
          <p:cNvSpPr/>
          <p:nvPr/>
        </p:nvSpPr>
        <p:spPr>
          <a:xfrm flipV="1">
            <a:off x="7213600" y="4199572"/>
            <a:ext cx="262128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en-GB" sz="1800" noProof="0" dirty="0"/>
          </a:p>
        </p:txBody>
      </p:sp>
      <p:sp useBgFill="1">
        <p:nvSpPr>
          <p:cNvPr id="30" name="Rounded Rectangle 29"/>
          <p:cNvSpPr/>
          <p:nvPr/>
        </p:nvSpPr>
        <p:spPr bwMode="white">
          <a:xfrm>
            <a:off x="7213600" y="3962400"/>
            <a:ext cx="408432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en-GB" sz="1800" noProof="0" dirty="0"/>
          </a:p>
        </p:txBody>
      </p:sp>
      <p:sp useBgFill="1">
        <p:nvSpPr>
          <p:cNvPr id="31" name="Rounded Rectangle 30"/>
          <p:cNvSpPr/>
          <p:nvPr/>
        </p:nvSpPr>
        <p:spPr bwMode="white">
          <a:xfrm>
            <a:off x="9835343" y="4060983"/>
            <a:ext cx="21336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en-GB" sz="1800" noProof="0" dirty="0"/>
          </a:p>
        </p:txBody>
      </p:sp>
      <p:sp>
        <p:nvSpPr>
          <p:cNvPr id="7" name="Rectangle 6"/>
          <p:cNvSpPr/>
          <p:nvPr/>
        </p:nvSpPr>
        <p:spPr>
          <a:xfrm>
            <a:off x="1" y="3649662"/>
            <a:ext cx="12192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en-GB" sz="1800" noProof="0" dirty="0"/>
          </a:p>
        </p:txBody>
      </p:sp>
      <p:sp>
        <p:nvSpPr>
          <p:cNvPr id="10" name="Rectangle 9"/>
          <p:cNvSpPr/>
          <p:nvPr/>
        </p:nvSpPr>
        <p:spPr>
          <a:xfrm>
            <a:off x="1" y="3675528"/>
            <a:ext cx="12192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en-GB" sz="1800" noProof="0" dirty="0"/>
          </a:p>
        </p:txBody>
      </p:sp>
      <p:sp>
        <p:nvSpPr>
          <p:cNvPr id="11" name="Rectangle 10"/>
          <p:cNvSpPr/>
          <p:nvPr/>
        </p:nvSpPr>
        <p:spPr>
          <a:xfrm flipV="1">
            <a:off x="8552068" y="3643090"/>
            <a:ext cx="3639933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en-GB" sz="1800" noProof="0" dirty="0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609600" y="2389009"/>
            <a:ext cx="11277600" cy="1470025"/>
          </a:xfrm>
        </p:spPr>
        <p:txBody>
          <a:bodyPr rtlCol="0"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to edit Master title style</a:t>
            </a:r>
            <a:endParaRPr lang="en-GB" noProof="0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609600" y="3899938"/>
            <a:ext cx="6604000" cy="1752600"/>
          </a:xfrm>
        </p:spPr>
        <p:txBody>
          <a:bodyPr rtlCol="0"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pPr rtl="0"/>
            <a:r>
              <a:rPr lang="en-GB" noProof="0"/>
              <a:t>Click to edit Master subtitle style</a:t>
            </a:r>
            <a:endParaRPr lang="en-GB" noProof="0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7265116" y="4205288"/>
            <a:ext cx="1727200" cy="457200"/>
          </a:xfrm>
        </p:spPr>
        <p:txBody>
          <a:bodyPr rtlCol="0"/>
          <a:lstStyle>
            <a:lvl1pPr>
              <a:defRPr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pPr rtl="0"/>
            <a:r>
              <a:rPr lang="en-GB" noProof="0" dirty="0"/>
              <a:t>Add a footer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9043832" y="4206240"/>
            <a:ext cx="1280160" cy="457200"/>
          </a:xfrm>
        </p:spPr>
        <p:txBody>
          <a:bodyPr rtlCol="0"/>
          <a:lstStyle>
            <a:lvl1pPr>
              <a:defRPr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pPr rtl="0"/>
            <a:fld id="{B4AAD351-6347-4318-B935-1E0F1B6A61D6}" type="datetime1">
              <a:rPr lang="en-GB" noProof="0" smtClean="0"/>
              <a:t>14/03/2026</a:t>
            </a:fld>
            <a:endParaRPr lang="en-GB" noProof="0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1093451" y="1136"/>
            <a:ext cx="996949" cy="365760"/>
          </a:xfrm>
        </p:spPr>
        <p:txBody>
          <a:bodyPr rtlCol="0"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pPr rtl="0"/>
            <a:fld id="{401CF334-2D5C-4859-84A6-CA7E6E43FAEB}" type="slidenum">
              <a:rPr lang="en-GB" noProof="0" smtClean="0"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6011521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GB" noProof="0"/>
              <a:t>Click to edit Master title style</a:t>
            </a:r>
            <a:endParaRPr lang="en-GB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1pPr>
              <a:defRPr/>
            </a:lvl1pPr>
            <a:lvl5pPr>
              <a:defRPr/>
            </a:lvl5pPr>
            <a:lvl6pPr>
              <a:defRPr/>
            </a:lvl6pPr>
          </a:lstStyle>
          <a:p>
            <a:pPr lvl="0" rtl="0" eaLnBrk="1" latinLnBrk="0" hangingPunct="1"/>
            <a:r>
              <a:rPr lang="en-GB" noProof="0"/>
              <a:t>Click to edit Master text styles</a:t>
            </a:r>
          </a:p>
          <a:p>
            <a:pPr lvl="1" rtl="0" eaLnBrk="1" latinLnBrk="0" hangingPunct="1"/>
            <a:r>
              <a:rPr lang="en-GB" noProof="0"/>
              <a:t>Second level</a:t>
            </a:r>
          </a:p>
          <a:p>
            <a:pPr lvl="2" rtl="0" eaLnBrk="1" latinLnBrk="0" hangingPunct="1"/>
            <a:r>
              <a:rPr lang="en-GB" noProof="0"/>
              <a:t>Third level</a:t>
            </a:r>
          </a:p>
          <a:p>
            <a:pPr lvl="3" rtl="0" eaLnBrk="1" latinLnBrk="0" hangingPunct="1"/>
            <a:r>
              <a:rPr lang="en-GB" noProof="0"/>
              <a:t>Fourth level</a:t>
            </a:r>
          </a:p>
          <a:p>
            <a:pPr lvl="4" rtl="0" eaLnBrk="1" latinLnBrk="0" hangingPunct="1"/>
            <a:r>
              <a:rPr lang="en-GB" noProof="0"/>
              <a:t>Fifth level</a:t>
            </a:r>
            <a:endParaRPr kumimoji="0" lang="en-GB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GB" noProof="0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1F23539-3F81-4F1E-A9B7-5CE0C1986E23}" type="datetime1">
              <a:rPr lang="en-GB" noProof="0" smtClean="0"/>
              <a:t>14/03/2026</a:t>
            </a:fld>
            <a:endParaRPr lang="en-GB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n-GB" noProof="0" smtClean="0"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594303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1968322"/>
            <a:ext cx="10363200" cy="1362075"/>
          </a:xfrm>
        </p:spPr>
        <p:txBody>
          <a:bodyPr rtlCol="0"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chemeClr val="accent2"/>
                </a:solidFill>
                <a:effectLst/>
              </a:defRPr>
            </a:lvl1pPr>
          </a:lstStyle>
          <a:p>
            <a:pPr rtl="0"/>
            <a:r>
              <a:rPr lang="en-GB" noProof="0"/>
              <a:t>Click to edit Master title style</a:t>
            </a:r>
            <a:endParaRPr kumimoji="0" lang="en-GB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3367088"/>
            <a:ext cx="10363200" cy="1509712"/>
          </a:xfrm>
        </p:spPr>
        <p:txBody>
          <a:bodyPr rtlCol="0"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rtl="0" eaLnBrk="1" latinLnBrk="0" hangingPunct="1"/>
            <a:r>
              <a:rPr lang="en-GB" noProof="0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GB" noProof="0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6854DA5-E4EE-42EA-9BC9-3160B1480769}" type="datetime1">
              <a:rPr lang="en-GB" noProof="0" smtClean="0"/>
              <a:t>14/03/2026</a:t>
            </a:fld>
            <a:endParaRPr lang="en-GB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n-GB" noProof="0" smtClean="0"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705127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GB" noProof="0"/>
              <a:t>Click to edit Master title style</a:t>
            </a:r>
            <a:endParaRPr lang="en-GB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249425"/>
            <a:ext cx="5384800" cy="4341875"/>
          </a:xfrm>
        </p:spPr>
        <p:txBody>
          <a:bodyPr rtlCol="0"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rtl="0" eaLnBrk="1" latinLnBrk="0" hangingPunct="1"/>
            <a:r>
              <a:rPr lang="en-GB" noProof="0"/>
              <a:t>Click to edit Master text styles</a:t>
            </a:r>
          </a:p>
          <a:p>
            <a:pPr lvl="1" rtl="0" eaLnBrk="1" latinLnBrk="0" hangingPunct="1"/>
            <a:r>
              <a:rPr lang="en-GB" noProof="0"/>
              <a:t>Second level</a:t>
            </a:r>
          </a:p>
          <a:p>
            <a:pPr lvl="2" rtl="0" eaLnBrk="1" latinLnBrk="0" hangingPunct="1"/>
            <a:r>
              <a:rPr lang="en-GB" noProof="0"/>
              <a:t>Third level</a:t>
            </a:r>
          </a:p>
          <a:p>
            <a:pPr lvl="3" rtl="0" eaLnBrk="1" latinLnBrk="0" hangingPunct="1"/>
            <a:r>
              <a:rPr lang="en-GB" noProof="0"/>
              <a:t>Fourth level</a:t>
            </a:r>
          </a:p>
          <a:p>
            <a:pPr lvl="4" rtl="0" eaLnBrk="1" latinLnBrk="0" hangingPunct="1"/>
            <a:r>
              <a:rPr lang="en-GB" noProof="0"/>
              <a:t>Fifth level</a:t>
            </a:r>
            <a:endParaRPr kumimoji="0" lang="en-GB" noProof="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2249425"/>
            <a:ext cx="5384800" cy="4341875"/>
          </a:xfrm>
        </p:spPr>
        <p:txBody>
          <a:bodyPr rtlCol="0"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rtl="0" eaLnBrk="1" latinLnBrk="0" hangingPunct="1"/>
            <a:r>
              <a:rPr lang="en-GB" noProof="0"/>
              <a:t>Click to edit Master text styles</a:t>
            </a:r>
          </a:p>
          <a:p>
            <a:pPr lvl="1" rtl="0" eaLnBrk="1" latinLnBrk="0" hangingPunct="1"/>
            <a:r>
              <a:rPr lang="en-GB" noProof="0"/>
              <a:t>Second level</a:t>
            </a:r>
          </a:p>
          <a:p>
            <a:pPr lvl="2" rtl="0" eaLnBrk="1" latinLnBrk="0" hangingPunct="1"/>
            <a:r>
              <a:rPr lang="en-GB" noProof="0"/>
              <a:t>Third level</a:t>
            </a:r>
          </a:p>
          <a:p>
            <a:pPr lvl="3" rtl="0" eaLnBrk="1" latinLnBrk="0" hangingPunct="1"/>
            <a:r>
              <a:rPr lang="en-GB" noProof="0"/>
              <a:t>Fourth level</a:t>
            </a:r>
          </a:p>
          <a:p>
            <a:pPr lvl="4" rtl="0" eaLnBrk="1" latinLnBrk="0" hangingPunct="1"/>
            <a:r>
              <a:rPr lang="en-GB" noProof="0"/>
              <a:t>Fifth level</a:t>
            </a:r>
            <a:endParaRPr kumimoji="0" lang="en-GB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GB" noProof="0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9A1BF5D-7537-4BA8-9976-6302714DE26C}" type="datetime1">
              <a:rPr lang="en-GB" noProof="0" smtClean="0"/>
              <a:t>14/03/2026</a:t>
            </a:fld>
            <a:endParaRPr lang="en-GB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n-GB" noProof="0" smtClean="0"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446445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0" orient="horz" pos="2160" userDrawn="1">
          <p15:clr>
            <a:srgbClr val="FBAE40"/>
          </p15:clr>
        </p15:guide>
        <p15:guide id="1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1143000"/>
            <a:ext cx="11176000" cy="1069848"/>
          </a:xfrm>
        </p:spPr>
        <p:txBody>
          <a:bodyPr rtlCol="0" anchor="ctr"/>
          <a:lstStyle>
            <a:lvl1pPr>
              <a:defRPr sz="4000" b="0" i="0" cap="none" baseline="0"/>
            </a:lvl1pPr>
          </a:lstStyle>
          <a:p>
            <a:pPr rtl="0"/>
            <a:r>
              <a:rPr lang="en-GB" noProof="0"/>
              <a:t>Click to edit Master title style</a:t>
            </a:r>
            <a:endParaRPr lang="en-GB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0" y="2244970"/>
            <a:ext cx="5388864" cy="457200"/>
          </a:xfrm>
          <a:solidFill>
            <a:schemeClr val="accent2">
              <a:lumMod val="60000"/>
              <a:lumOff val="4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rtlCol="0"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rtl="0" eaLnBrk="1" latinLnBrk="0" hangingPunct="1"/>
            <a:r>
              <a:rPr lang="en-GB" noProof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508000" y="2708519"/>
            <a:ext cx="5388864" cy="3886200"/>
          </a:xfrm>
        </p:spPr>
        <p:txBody>
          <a:bodyPr rtlCol="0"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rtl="0" eaLnBrk="1" latinLnBrk="0" hangingPunct="1"/>
            <a:r>
              <a:rPr lang="en-GB" noProof="0"/>
              <a:t>Click to edit Master text styles</a:t>
            </a:r>
          </a:p>
          <a:p>
            <a:pPr lvl="1" rtl="0" eaLnBrk="1" latinLnBrk="0" hangingPunct="1"/>
            <a:r>
              <a:rPr lang="en-GB" noProof="0"/>
              <a:t>Second level</a:t>
            </a:r>
          </a:p>
          <a:p>
            <a:pPr lvl="2" rtl="0" eaLnBrk="1" latinLnBrk="0" hangingPunct="1"/>
            <a:r>
              <a:rPr lang="en-GB" noProof="0"/>
              <a:t>Third level</a:t>
            </a:r>
          </a:p>
          <a:p>
            <a:pPr lvl="3" rtl="0" eaLnBrk="1" latinLnBrk="0" hangingPunct="1"/>
            <a:r>
              <a:rPr lang="en-GB" noProof="0"/>
              <a:t>Fourth level</a:t>
            </a:r>
          </a:p>
          <a:p>
            <a:pPr lvl="4" rtl="0" eaLnBrk="1" latinLnBrk="0" hangingPunct="1"/>
            <a:r>
              <a:rPr lang="en-GB" noProof="0"/>
              <a:t>Fifth level</a:t>
            </a:r>
            <a:endParaRPr kumimoji="0" lang="en-GB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294968" y="2244970"/>
            <a:ext cx="5389033" cy="457200"/>
          </a:xfrm>
          <a:solidFill>
            <a:schemeClr val="accent2">
              <a:lumMod val="60000"/>
              <a:lumOff val="4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rtlCol="0"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rtl="0" eaLnBrk="1" latinLnBrk="0" hangingPunct="1"/>
            <a:r>
              <a:rPr lang="en-GB" noProof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1073" y="2708519"/>
            <a:ext cx="5389033" cy="3886200"/>
          </a:xfrm>
        </p:spPr>
        <p:txBody>
          <a:bodyPr rtlCol="0"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rtl="0" eaLnBrk="1" latinLnBrk="0" hangingPunct="1"/>
            <a:r>
              <a:rPr lang="en-GB" noProof="0"/>
              <a:t>Click to edit Master text styles</a:t>
            </a:r>
          </a:p>
          <a:p>
            <a:pPr lvl="1" rtl="0" eaLnBrk="1" latinLnBrk="0" hangingPunct="1"/>
            <a:r>
              <a:rPr lang="en-GB" noProof="0"/>
              <a:t>Second level</a:t>
            </a:r>
          </a:p>
          <a:p>
            <a:pPr lvl="2" rtl="0" eaLnBrk="1" latinLnBrk="0" hangingPunct="1"/>
            <a:r>
              <a:rPr lang="en-GB" noProof="0"/>
              <a:t>Third level</a:t>
            </a:r>
          </a:p>
          <a:p>
            <a:pPr lvl="3" rtl="0" eaLnBrk="1" latinLnBrk="0" hangingPunct="1"/>
            <a:r>
              <a:rPr lang="en-GB" noProof="0"/>
              <a:t>Fourth level</a:t>
            </a:r>
          </a:p>
          <a:p>
            <a:pPr lvl="4" rtl="0" eaLnBrk="1" latinLnBrk="0" hangingPunct="1"/>
            <a:r>
              <a:rPr lang="en-GB" noProof="0"/>
              <a:t>Fifth level</a:t>
            </a:r>
            <a:endParaRPr kumimoji="0" lang="en-GB" noProof="0" dirty="0"/>
          </a:p>
        </p:txBody>
      </p:sp>
      <p:sp>
        <p:nvSpPr>
          <p:cNvPr id="28" name="Footer Placeholder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 rtl="0"/>
            <a:r>
              <a:rPr lang="en-GB" noProof="0" dirty="0"/>
              <a:t>Add a footer</a:t>
            </a:r>
          </a:p>
        </p:txBody>
      </p:sp>
      <p:sp>
        <p:nvSpPr>
          <p:cNvPr id="26" name="Date Placeholder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F8E4797-21F6-4D41-B035-97FEABB63BCE}" type="datetime1">
              <a:rPr lang="en-GB" noProof="0" smtClean="0"/>
              <a:t>14/03/2026</a:t>
            </a:fld>
            <a:endParaRPr lang="en-GB" noProof="0" dirty="0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n-GB" noProof="0" smtClean="0"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70716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43000"/>
            <a:ext cx="10972800" cy="1069848"/>
          </a:xfrm>
        </p:spPr>
        <p:txBody>
          <a:bodyPr rtlCol="0"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pPr rtl="0"/>
            <a:r>
              <a:rPr lang="en-GB" noProof="0"/>
              <a:t>Click to edit Master title style</a:t>
            </a:r>
            <a:endParaRPr lang="en-GB" noProof="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7010400" y="612648"/>
            <a:ext cx="1767840" cy="457200"/>
          </a:xfrm>
        </p:spPr>
        <p:txBody>
          <a:bodyPr rtlCol="0"/>
          <a:lstStyle/>
          <a:p>
            <a:pPr rtl="0"/>
            <a:r>
              <a:rPr lang="en-GB" noProof="0" dirty="0"/>
              <a:t>Add a footer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778240" y="612648"/>
            <a:ext cx="1276352" cy="457200"/>
          </a:xfrm>
        </p:spPr>
        <p:txBody>
          <a:bodyPr rtlCol="0"/>
          <a:lstStyle/>
          <a:p>
            <a:pPr rtl="0"/>
            <a:fld id="{4EC45D07-A3FD-40EE-BB45-F5E3D0F2E1C8}" type="datetime1">
              <a:rPr lang="en-GB" noProof="0" smtClean="0"/>
              <a:t>14/03/2026</a:t>
            </a:fld>
            <a:endParaRPr lang="en-GB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899648" y="2272"/>
            <a:ext cx="1016000" cy="365760"/>
          </a:xfrm>
        </p:spPr>
        <p:txBody>
          <a:bodyPr rtlCol="0"/>
          <a:lstStyle/>
          <a:p>
            <a:pPr rtl="0"/>
            <a:fld id="{401CF334-2D5C-4859-84A6-CA7E6E43FAEB}" type="slidenum">
              <a:rPr lang="en-GB" noProof="0" smtClean="0"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821952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GB" noProof="0" dirty="0"/>
              <a:t>Add a footer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0FFDAF9-DFA9-4947-9568-03347A66D233}" type="datetime1">
              <a:rPr lang="en-GB" noProof="0" smtClean="0"/>
              <a:t>14/03/2026</a:t>
            </a:fld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n-GB" noProof="0" smtClean="0"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135695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137995" y="1101970"/>
            <a:ext cx="4511040" cy="877824"/>
          </a:xfrm>
        </p:spPr>
        <p:txBody>
          <a:bodyPr rtlCol="0" anchor="b"/>
          <a:lstStyle>
            <a:lvl1pPr algn="l">
              <a:buNone/>
              <a:defRPr sz="1800" b="1"/>
            </a:lvl1pPr>
          </a:lstStyle>
          <a:p>
            <a:pPr rtl="0"/>
            <a:r>
              <a:rPr lang="en-GB" noProof="0" dirty="0"/>
              <a:t>Edit Master title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203200" y="776287"/>
            <a:ext cx="6803136" cy="5805083"/>
          </a:xfrm>
        </p:spPr>
        <p:txBody>
          <a:bodyPr rtlCol="0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rtl="0" eaLnBrk="1" latinLnBrk="0" hangingPunct="1"/>
            <a:r>
              <a:rPr lang="en-GB" noProof="0"/>
              <a:t>Click to edit Master text styles</a:t>
            </a:r>
          </a:p>
          <a:p>
            <a:pPr lvl="1" rtl="0" eaLnBrk="1" latinLnBrk="0" hangingPunct="1"/>
            <a:r>
              <a:rPr lang="en-GB" noProof="0"/>
              <a:t>Second level</a:t>
            </a:r>
          </a:p>
          <a:p>
            <a:pPr lvl="2" rtl="0" eaLnBrk="1" latinLnBrk="0" hangingPunct="1"/>
            <a:r>
              <a:rPr lang="en-GB" noProof="0"/>
              <a:t>Third level</a:t>
            </a:r>
          </a:p>
          <a:p>
            <a:pPr lvl="3" rtl="0" eaLnBrk="1" latinLnBrk="0" hangingPunct="1"/>
            <a:r>
              <a:rPr lang="en-GB" noProof="0"/>
              <a:t>Fourth level</a:t>
            </a:r>
          </a:p>
          <a:p>
            <a:pPr lvl="4" rtl="0" eaLnBrk="1" latinLnBrk="0" hangingPunct="1"/>
            <a:r>
              <a:rPr lang="en-GB" noProof="0"/>
              <a:t>Fifth level</a:t>
            </a:r>
            <a:endParaRPr kumimoji="0" lang="en-GB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7137995" y="2010727"/>
            <a:ext cx="4511040" cy="4580573"/>
          </a:xfrm>
        </p:spPr>
        <p:txBody>
          <a:bodyPr rtlCol="0"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rtl="0" eaLnBrk="1" latinLnBrk="0" hangingPunct="1"/>
            <a:r>
              <a:rPr lang="en-GB" noProof="0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GB" noProof="0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89D711C-098E-40E1-BE23-CFCA1FAB8359}" type="datetime1">
              <a:rPr lang="en-GB" noProof="0" smtClean="0"/>
              <a:t>14/03/2026</a:t>
            </a:fld>
            <a:endParaRPr lang="en-GB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n-GB" noProof="0" smtClean="0"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498685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3913" y="1109161"/>
            <a:ext cx="782404" cy="4681637"/>
          </a:xfrm>
        </p:spPr>
        <p:txBody>
          <a:bodyPr vert="vert270" lIns="45720" tIns="0" rIns="45720" rtlCol="0" anchor="t"/>
          <a:lstStyle>
            <a:lvl1pPr algn="ctr">
              <a:buNone/>
              <a:defRPr sz="2000" b="1"/>
            </a:lvl1pPr>
          </a:lstStyle>
          <a:p>
            <a:pPr rtl="0"/>
            <a:r>
              <a:rPr lang="en-GB" noProof="0"/>
              <a:t>Click to edit Master title style</a:t>
            </a:r>
            <a:endParaRPr lang="en-GB" noProof="0" dirty="0"/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538228" y="1143000"/>
            <a:ext cx="6096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 rtlCol="0"/>
          <a:lstStyle>
            <a:lvl1pPr marL="0" indent="0">
              <a:buNone/>
              <a:defRPr sz="3200"/>
            </a:lvl1pPr>
          </a:lstStyle>
          <a:p>
            <a:pPr rtl="0"/>
            <a:r>
              <a:rPr lang="en-GB" noProof="0"/>
              <a:t>Click icon to add picture</a:t>
            </a:r>
            <a:endParaRPr kumimoji="0" lang="en-GB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17924" y="3274309"/>
            <a:ext cx="3454400" cy="2516489"/>
          </a:xfrm>
        </p:spPr>
        <p:txBody>
          <a:bodyPr lIns="0" tIns="0" rIns="45720" rtlCol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rtl="0" eaLnBrk="1" latinLnBrk="0" hangingPunct="1"/>
            <a:r>
              <a:rPr lang="en-GB" noProof="0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GB" noProof="0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A9A7A2F-7C81-4F05-8B4D-4983D3740BAF}" type="datetime1">
              <a:rPr lang="en-GB" noProof="0" smtClean="0"/>
              <a:t>14/03/2026</a:t>
            </a:fld>
            <a:endParaRPr lang="en-GB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n-GB" noProof="0" smtClean="0"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883619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GB" noProof="0"/>
              <a:t>Click to edit Master title style</a:t>
            </a:r>
            <a:endParaRPr lang="en-GB" noProof="0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>
            <a:lvl1pPr>
              <a:defRPr/>
            </a:lvl1pPr>
            <a:lvl5pPr>
              <a:defRPr/>
            </a:lvl5pPr>
          </a:lstStyle>
          <a:p>
            <a:pPr lvl="0" rtl="0" eaLnBrk="1" latinLnBrk="0" hangingPunct="1"/>
            <a:r>
              <a:rPr lang="en-GB" noProof="0"/>
              <a:t>Click to edit Master text styles</a:t>
            </a:r>
          </a:p>
          <a:p>
            <a:pPr lvl="1" rtl="0" eaLnBrk="1" latinLnBrk="0" hangingPunct="1"/>
            <a:r>
              <a:rPr lang="en-GB" noProof="0"/>
              <a:t>Second level</a:t>
            </a:r>
          </a:p>
          <a:p>
            <a:pPr lvl="2" rtl="0" eaLnBrk="1" latinLnBrk="0" hangingPunct="1"/>
            <a:r>
              <a:rPr lang="en-GB" noProof="0"/>
              <a:t>Third level</a:t>
            </a:r>
          </a:p>
          <a:p>
            <a:pPr lvl="3" rtl="0" eaLnBrk="1" latinLnBrk="0" hangingPunct="1"/>
            <a:r>
              <a:rPr lang="en-GB" noProof="0"/>
              <a:t>Fourth level</a:t>
            </a:r>
          </a:p>
          <a:p>
            <a:pPr lvl="4" rtl="0" eaLnBrk="1" latinLnBrk="0" hangingPunct="1"/>
            <a:r>
              <a:rPr lang="en-GB" noProof="0"/>
              <a:t>Fifth level</a:t>
            </a:r>
            <a:endParaRPr kumimoji="0" lang="en-GB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GB" noProof="0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2EB87B0-5071-4BC9-A19F-C3269318028C}" type="datetime1">
              <a:rPr lang="en-GB" noProof="0" smtClean="0"/>
              <a:t>14/03/2026</a:t>
            </a:fld>
            <a:endParaRPr lang="en-GB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n-GB" noProof="0" smtClean="0"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467844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</p:nvPr>
        </p:nvSpPr>
        <p:spPr>
          <a:xfrm>
            <a:off x="9042400" y="1143000"/>
            <a:ext cx="2540000" cy="5448300"/>
          </a:xfrm>
        </p:spPr>
        <p:txBody>
          <a:bodyPr vert="eaVert" rtlCol="0"/>
          <a:lstStyle>
            <a:lvl1pPr>
              <a:defRPr/>
            </a:lvl1pPr>
          </a:lstStyle>
          <a:p>
            <a:pPr rtl="0"/>
            <a:r>
              <a:rPr lang="en-GB" noProof="0" dirty="0"/>
              <a:t>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609600" y="1143000"/>
            <a:ext cx="8331200" cy="5448300"/>
          </a:xfrm>
        </p:spPr>
        <p:txBody>
          <a:bodyPr vert="eaVert" rtlCol="0"/>
          <a:lstStyle>
            <a:lvl5pPr>
              <a:defRPr/>
            </a:lvl5pPr>
          </a:lstStyle>
          <a:p>
            <a:pPr lvl="0" rtl="0" eaLnBrk="1" latinLnBrk="0" hangingPunct="1"/>
            <a:r>
              <a:rPr lang="en-GB" noProof="0" dirty="0"/>
              <a:t>Click to edit Master text styles</a:t>
            </a:r>
          </a:p>
          <a:p>
            <a:pPr lvl="1" rtl="0" eaLnBrk="1" latinLnBrk="0" hangingPunct="1"/>
            <a:r>
              <a:rPr lang="en-GB" noProof="0" dirty="0"/>
              <a:t>Second level</a:t>
            </a:r>
          </a:p>
          <a:p>
            <a:pPr lvl="2" rtl="0" eaLnBrk="1" latinLnBrk="0" hangingPunct="1"/>
            <a:r>
              <a:rPr lang="en-GB" noProof="0" dirty="0"/>
              <a:t>Third level</a:t>
            </a:r>
          </a:p>
          <a:p>
            <a:pPr lvl="3" rtl="0" eaLnBrk="1" latinLnBrk="0" hangingPunct="1"/>
            <a:r>
              <a:rPr lang="en-GB" noProof="0" dirty="0"/>
              <a:t>Fourth level</a:t>
            </a:r>
          </a:p>
          <a:p>
            <a:pPr lvl="4" rtl="0" eaLnBrk="1" latinLnBrk="0" hangingPunct="1"/>
            <a:r>
              <a:rPr lang="en-GB" noProof="0" dirty="0"/>
              <a:t>Fifth level</a:t>
            </a:r>
            <a:endParaRPr kumimoji="0" lang="en-GB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GB" noProof="0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4B4CBB3-9133-42BF-BC20-6F6E1888C21F}" type="datetime1">
              <a:rPr lang="en-GB" noProof="0" smtClean="0"/>
              <a:t>14/03/2026</a:t>
            </a:fld>
            <a:endParaRPr lang="en-GB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n-GB" noProof="0" smtClean="0"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978088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/>
          <p:cNvSpPr/>
          <p:nvPr/>
        </p:nvSpPr>
        <p:spPr>
          <a:xfrm>
            <a:off x="1" y="366819"/>
            <a:ext cx="12192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en-GB" sz="1800" noProof="0" dirty="0"/>
          </a:p>
        </p:txBody>
      </p:sp>
      <p:sp>
        <p:nvSpPr>
          <p:cNvPr id="29" name="Rectangle 28"/>
          <p:cNvSpPr/>
          <p:nvPr/>
        </p:nvSpPr>
        <p:spPr>
          <a:xfrm>
            <a:off x="0" y="-1"/>
            <a:ext cx="12192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en-GB" sz="1800" noProof="0" dirty="0"/>
          </a:p>
        </p:txBody>
      </p:sp>
      <p:sp>
        <p:nvSpPr>
          <p:cNvPr id="30" name="Rectangle 29"/>
          <p:cNvSpPr/>
          <p:nvPr/>
        </p:nvSpPr>
        <p:spPr>
          <a:xfrm>
            <a:off x="1" y="308277"/>
            <a:ext cx="12192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en-GB" sz="1800" noProof="0" dirty="0"/>
          </a:p>
        </p:txBody>
      </p:sp>
      <p:sp>
        <p:nvSpPr>
          <p:cNvPr id="31" name="Rectangle 30"/>
          <p:cNvSpPr/>
          <p:nvPr/>
        </p:nvSpPr>
        <p:spPr>
          <a:xfrm flipV="1">
            <a:off x="7213577" y="360247"/>
            <a:ext cx="4978425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en-GB" sz="1800" noProof="0" dirty="0"/>
          </a:p>
        </p:txBody>
      </p:sp>
      <p:sp>
        <p:nvSpPr>
          <p:cNvPr id="32" name="Rectangle 31"/>
          <p:cNvSpPr/>
          <p:nvPr/>
        </p:nvSpPr>
        <p:spPr>
          <a:xfrm flipV="1">
            <a:off x="7213601" y="440113"/>
            <a:ext cx="49784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en-GB" sz="1800" noProof="0" dirty="0"/>
          </a:p>
        </p:txBody>
      </p:sp>
      <p:sp useBgFill="1">
        <p:nvSpPr>
          <p:cNvPr id="33" name="Rounded Rectangle 32"/>
          <p:cNvSpPr/>
          <p:nvPr/>
        </p:nvSpPr>
        <p:spPr bwMode="white">
          <a:xfrm>
            <a:off x="7209785" y="497504"/>
            <a:ext cx="408432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en-GB" sz="1800" noProof="0" dirty="0"/>
          </a:p>
        </p:txBody>
      </p:sp>
      <p:sp useBgFill="1">
        <p:nvSpPr>
          <p:cNvPr id="34" name="Rounded Rectangle 33"/>
          <p:cNvSpPr/>
          <p:nvPr/>
        </p:nvSpPr>
        <p:spPr bwMode="white">
          <a:xfrm>
            <a:off x="9831528" y="588943"/>
            <a:ext cx="21336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en-GB" sz="1800" noProof="0" dirty="0"/>
          </a:p>
        </p:txBody>
      </p:sp>
      <p:sp>
        <p:nvSpPr>
          <p:cNvPr id="35" name="Rectangle 34"/>
          <p:cNvSpPr/>
          <p:nvPr/>
        </p:nvSpPr>
        <p:spPr bwMode="invGray">
          <a:xfrm>
            <a:off x="12113288" y="-2001"/>
            <a:ext cx="76835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en-GB" sz="1800" noProof="0" dirty="0"/>
          </a:p>
        </p:txBody>
      </p:sp>
      <p:sp>
        <p:nvSpPr>
          <p:cNvPr id="36" name="Rectangle 35"/>
          <p:cNvSpPr/>
          <p:nvPr/>
        </p:nvSpPr>
        <p:spPr bwMode="invGray">
          <a:xfrm>
            <a:off x="12059308" y="-2001"/>
            <a:ext cx="3657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en-GB" sz="1800" noProof="0" dirty="0"/>
          </a:p>
        </p:txBody>
      </p:sp>
      <p:sp>
        <p:nvSpPr>
          <p:cNvPr id="37" name="Rectangle 36"/>
          <p:cNvSpPr/>
          <p:nvPr/>
        </p:nvSpPr>
        <p:spPr bwMode="invGray">
          <a:xfrm>
            <a:off x="12033904" y="-2001"/>
            <a:ext cx="12192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en-GB" sz="1800" noProof="0" dirty="0"/>
          </a:p>
        </p:txBody>
      </p:sp>
      <p:sp>
        <p:nvSpPr>
          <p:cNvPr id="38" name="Rectangle 37"/>
          <p:cNvSpPr/>
          <p:nvPr/>
        </p:nvSpPr>
        <p:spPr bwMode="invGray">
          <a:xfrm>
            <a:off x="11967231" y="-2001"/>
            <a:ext cx="36576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en-GB" sz="1800" noProof="0" dirty="0"/>
          </a:p>
        </p:txBody>
      </p:sp>
      <p:sp>
        <p:nvSpPr>
          <p:cNvPr id="39" name="Rectangle 38"/>
          <p:cNvSpPr/>
          <p:nvPr/>
        </p:nvSpPr>
        <p:spPr bwMode="invGray">
          <a:xfrm>
            <a:off x="11887569" y="380"/>
            <a:ext cx="73152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en-GB" sz="1800" noProof="0" dirty="0"/>
          </a:p>
        </p:txBody>
      </p:sp>
      <p:sp>
        <p:nvSpPr>
          <p:cNvPr id="40" name="Rectangle 39"/>
          <p:cNvSpPr/>
          <p:nvPr/>
        </p:nvSpPr>
        <p:spPr bwMode="invGray">
          <a:xfrm>
            <a:off x="11831300" y="380"/>
            <a:ext cx="12192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en-GB" sz="1800" noProof="0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1143000"/>
            <a:ext cx="10972800" cy="1066800"/>
          </a:xfrm>
          <a:prstGeom prst="rect">
            <a:avLst/>
          </a:prstGeom>
        </p:spPr>
        <p:txBody>
          <a:bodyPr vert="horz" rtlCol="0" anchor="ctr">
            <a:normAutofit/>
          </a:bodyPr>
          <a:lstStyle/>
          <a:p>
            <a:pPr rtl="0"/>
            <a:r>
              <a:rPr lang="en-GB" noProof="0"/>
              <a:t>Click to edit Master title style</a:t>
            </a:r>
            <a:endParaRPr lang="en-GB" noProof="0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09600" y="2249424"/>
            <a:ext cx="10972800" cy="4325112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  <a:endParaRPr lang="en-GB" noProof="0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7010400" y="612648"/>
            <a:ext cx="1767840" cy="457200"/>
          </a:xfrm>
          <a:prstGeom prst="rect">
            <a:avLst/>
          </a:prstGeom>
        </p:spPr>
        <p:txBody>
          <a:bodyPr vert="horz" rtlCol="0"/>
          <a:lstStyle>
            <a:lvl1pPr algn="r" eaLnBrk="1" latinLnBrk="0" hangingPunct="1">
              <a:defRPr kumimoji="0" sz="11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pPr rtl="0"/>
            <a:r>
              <a:rPr lang="en-GB" noProof="0" dirty="0"/>
              <a:t>Add a footer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8782048" y="612648"/>
            <a:ext cx="1276352" cy="457200"/>
          </a:xfrm>
          <a:prstGeom prst="rect">
            <a:avLst/>
          </a:prstGeom>
        </p:spPr>
        <p:txBody>
          <a:bodyPr vert="horz" rtlCol="0"/>
          <a:lstStyle>
            <a:lvl1pPr algn="l" eaLnBrk="1" latinLnBrk="0" hangingPunct="1">
              <a:defRPr kumimoji="0" sz="11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pPr rtl="0"/>
            <a:fld id="{8B045440-74F0-4B44-BEF6-1040C3E911E1}" type="datetime1">
              <a:rPr lang="en-GB" noProof="0" smtClean="0"/>
              <a:t>14/03/2026</a:t>
            </a:fld>
            <a:endParaRPr lang="en-GB" noProof="0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0899648" y="2272"/>
            <a:ext cx="1016000" cy="365760"/>
          </a:xfrm>
          <a:prstGeom prst="rect">
            <a:avLst/>
          </a:prstGeom>
        </p:spPr>
        <p:txBody>
          <a:bodyPr vert="horz" rtlCol="0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pPr rtl="0"/>
            <a:fld id="{401CF334-2D5C-4859-84A6-CA7E6E43FAEB}" type="slidenum">
              <a:rPr lang="en-GB" noProof="0" smtClean="0"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132171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>
            <a:lumMod val="75000"/>
          </a:schemeClr>
        </a:buClr>
        <a:buFont typeface="Georgia"/>
        <a:buChar char="•"/>
        <a:defRPr kumimoji="0" sz="2800" kern="1200">
          <a:solidFill>
            <a:schemeClr val="tx2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>
            <a:lumMod val="75000"/>
          </a:schemeClr>
        </a:buClr>
        <a:buFont typeface="Georgia"/>
        <a:buChar char="▫"/>
        <a:defRPr kumimoji="0" sz="2600" kern="1200">
          <a:solidFill>
            <a:schemeClr val="tx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1800" kern="1200">
          <a:solidFill>
            <a:schemeClr val="tx2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1500" kern="1200">
          <a:solidFill>
            <a:schemeClr val="tx2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0" orient="horz" pos="2160" userDrawn="1">
          <p15:clr>
            <a:srgbClr val="F26B43"/>
          </p15:clr>
        </p15:guide>
        <p15:guide id="1" pos="3840" userDrawn="1">
          <p15:clr>
            <a:srgbClr val="F26B43"/>
          </p15:clr>
        </p15:guide>
        <p15:guide id="2" orient="horz" pos="415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eprints.ugd.edu.mk/36270/" TargetMode="External"/><Relationship Id="rId2" Type="http://schemas.openxmlformats.org/officeDocument/2006/relationships/hyperlink" Target="https://eprints.ugd.edu.mk/28151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eprints.ugd.edu.mk/28954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82190" y="604932"/>
            <a:ext cx="9599488" cy="1470025"/>
          </a:xfrm>
        </p:spPr>
        <p:txBody>
          <a:bodyPr rtlCol="0">
            <a:normAutofit/>
          </a:bodyPr>
          <a:lstStyle/>
          <a:p>
            <a:pPr algn="ctr" rtl="0"/>
            <a:r>
              <a:rPr lang="en-GB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Speech Acts in Intercultural Context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73530" y="4730000"/>
            <a:ext cx="3811325" cy="576646"/>
          </a:xfrm>
        </p:spPr>
        <p:txBody>
          <a:bodyPr rtlCol="0"/>
          <a:lstStyle/>
          <a:p>
            <a:pPr rtl="0"/>
            <a:r>
              <a:rPr lang="en-GB" dirty="0"/>
              <a:t>Assistant Prof. Ana Koceva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68AC2CC9-A590-47EE-B29E-3E289BE0B35C}"/>
              </a:ext>
            </a:extLst>
          </p:cNvPr>
          <p:cNvSpPr txBox="1">
            <a:spLocks/>
          </p:cNvSpPr>
          <p:nvPr/>
        </p:nvSpPr>
        <p:spPr>
          <a:xfrm>
            <a:off x="1986501" y="561716"/>
            <a:ext cx="6604000" cy="368587"/>
          </a:xfrm>
          <a:prstGeom prst="rect">
            <a:avLst/>
          </a:prstGeom>
        </p:spPr>
        <p:txBody>
          <a:bodyPr vert="horz" rtlCol="0">
            <a:normAutofit fontScale="92500" lnSpcReduction="20000"/>
          </a:bodyPr>
          <a:lstStyle>
            <a:lvl1pPr marL="64008" indent="0" algn="l" rtl="0" eaLnBrk="1" latinLnBrk="0" hangingPunct="1">
              <a:spcBef>
                <a:spcPts val="300"/>
              </a:spcBef>
              <a:buClr>
                <a:schemeClr val="accent3">
                  <a:lumMod val="75000"/>
                </a:schemeClr>
              </a:buClr>
              <a:buFont typeface="Georgia"/>
              <a:buNone/>
              <a:defRPr kumimoji="0"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1" latinLnBrk="0" hangingPunct="1">
              <a:spcBef>
                <a:spcPts val="300"/>
              </a:spcBef>
              <a:buClr>
                <a:schemeClr val="accent2">
                  <a:lumMod val="75000"/>
                </a:schemeClr>
              </a:buClr>
              <a:buFont typeface="Georgia"/>
              <a:buNone/>
              <a:defRPr kumimoji="0" sz="2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latinLnBrk="0" hangingPunct="1">
              <a:spcBef>
                <a:spcPts val="300"/>
              </a:spcBef>
              <a:buClr>
                <a:schemeClr val="accent1">
                  <a:lumMod val="50000"/>
                </a:schemeClr>
              </a:buClr>
              <a:buFont typeface="Wingdings 2" panose="05020102010507070707" pitchFamily="18" charset="2"/>
              <a:buNone/>
              <a:defRPr kumimoji="0"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latinLnBrk="0" hangingPunct="1">
              <a:spcBef>
                <a:spcPts val="300"/>
              </a:spcBef>
              <a:buClr>
                <a:schemeClr val="accent1">
                  <a:lumMod val="50000"/>
                </a:schemeClr>
              </a:buClr>
              <a:buFont typeface="Wingdings 2" panose="05020102010507070707" pitchFamily="18" charset="2"/>
              <a:buNone/>
              <a:defRPr kumimoji="0"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latinLnBrk="0" hangingPunct="1">
              <a:spcBef>
                <a:spcPts val="300"/>
              </a:spcBef>
              <a:buClr>
                <a:schemeClr val="accent1">
                  <a:lumMod val="50000"/>
                </a:schemeClr>
              </a:buClr>
              <a:buFont typeface="Wingdings 2" panose="05020102010507070707" pitchFamily="18" charset="2"/>
              <a:buNone/>
              <a:defRPr kumimoji="0"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spcBef>
                <a:spcPts val="300"/>
              </a:spcBef>
              <a:buClr>
                <a:schemeClr val="accent1">
                  <a:lumMod val="50000"/>
                </a:schemeClr>
              </a:buClr>
              <a:buFont typeface="Wingdings 2" panose="05020102010507070707" pitchFamily="18" charset="2"/>
              <a:buNone/>
              <a:defRPr kumimoji="0"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spcBef>
                <a:spcPts val="300"/>
              </a:spcBef>
              <a:buClr>
                <a:schemeClr val="accent1">
                  <a:lumMod val="50000"/>
                </a:schemeClr>
              </a:buClr>
              <a:buFont typeface="Wingdings 2" panose="05020102010507070707" pitchFamily="18" charset="2"/>
              <a:buNone/>
              <a:defRPr kumimoji="0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spcBef>
                <a:spcPts val="300"/>
              </a:spcBef>
              <a:buClr>
                <a:schemeClr val="accent1">
                  <a:lumMod val="50000"/>
                </a:schemeClr>
              </a:buClr>
              <a:buFont typeface="Wingdings 2" panose="05020102010507070707" pitchFamily="18" charset="2"/>
              <a:buNone/>
              <a:defRPr kumimoji="0" sz="15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spcBef>
                <a:spcPts val="300"/>
              </a:spcBef>
              <a:buClr>
                <a:schemeClr val="accent1">
                  <a:lumMod val="50000"/>
                </a:schemeClr>
              </a:buClr>
              <a:buFont typeface="Wingdings 2" panose="05020102010507070707" pitchFamily="18" charset="2"/>
              <a:buNone/>
              <a:defRPr kumimoji="0"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Assistant Prof. Ana Koceva</a:t>
            </a:r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CFF62F1-8E4F-4D75-80A3-A3AB9A1D86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1092" y="4584143"/>
            <a:ext cx="3686689" cy="1438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6305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77240"/>
            <a:ext cx="10972800" cy="1066800"/>
          </a:xfrm>
        </p:spPr>
        <p:txBody>
          <a:bodyPr rtlCol="0"/>
          <a:lstStyle/>
          <a:p>
            <a:r>
              <a:rPr lang="en-GB" dirty="0"/>
              <a:t>Speech Act Theory: Basic Idea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963176"/>
            <a:ext cx="10972800" cy="4533039"/>
          </a:xfrm>
        </p:spPr>
        <p:txBody>
          <a:bodyPr rtlCol="0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Language is used primarily for </a:t>
            </a:r>
            <a:r>
              <a:rPr lang="en-GB" b="1" dirty="0"/>
              <a:t>communication purposes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Speech act theory focuses on </a:t>
            </a:r>
            <a:r>
              <a:rPr lang="en-GB" b="1" dirty="0"/>
              <a:t>how language functions in communication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Knowing grammar and vocabulary </a:t>
            </a:r>
            <a:r>
              <a:rPr lang="en-GB" b="1" dirty="0"/>
              <a:t>is not enough</a:t>
            </a:r>
            <a:r>
              <a:rPr lang="en-GB" dirty="0"/>
              <a:t> for real-life communication.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Pragmatics</a:t>
            </a:r>
            <a:r>
              <a:rPr lang="en-GB" dirty="0"/>
              <a:t> explains how linguistic structures relate to </a:t>
            </a:r>
            <a:r>
              <a:rPr lang="en-GB" b="1" dirty="0"/>
              <a:t>communicative functions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Lack of pragmatic awareness can lead to </a:t>
            </a:r>
            <a:r>
              <a:rPr lang="en-GB" b="1" dirty="0"/>
              <a:t>miscommunication and communication failure</a:t>
            </a:r>
            <a:r>
              <a:rPr lang="en-GB" dirty="0"/>
              <a:t>, especially in </a:t>
            </a:r>
            <a:r>
              <a:rPr lang="en-GB" b="1" dirty="0"/>
              <a:t>intercultural communication</a:t>
            </a:r>
            <a:r>
              <a:rPr lang="en-GB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518960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820270"/>
            <a:ext cx="10972800" cy="1066800"/>
          </a:xfrm>
        </p:spPr>
        <p:txBody>
          <a:bodyPr rtlCol="0"/>
          <a:lstStyle/>
          <a:p>
            <a:pPr rtl="0"/>
            <a:r>
              <a:rPr lang="en-GB" dirty="0"/>
              <a:t>Speech Acts and their communicative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9500" y="2289180"/>
            <a:ext cx="10972800" cy="4325112"/>
          </a:xfrm>
        </p:spPr>
        <p:txBody>
          <a:bodyPr rtlCol="0"/>
          <a:lstStyle/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Every speech act contains words arranged in a grammatical structure.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Grammar and vocabulary alone do not guarantee successful communication.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Speech acts also include a communicative function.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Speakers use speech acts to perform actions through language.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Each speech act expresses the speaker’s communicative intention.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Successful communication requires the hearer to recognize and interpret that intention.</a:t>
            </a:r>
          </a:p>
        </p:txBody>
      </p:sp>
    </p:spTree>
    <p:extLst>
      <p:ext uri="{BB962C8B-B14F-4D97-AF65-F5344CB8AC3E}">
        <p14:creationId xmlns:p14="http://schemas.microsoft.com/office/powerpoint/2010/main" val="997860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379" y="713629"/>
            <a:ext cx="10972800" cy="1066800"/>
          </a:xfrm>
        </p:spPr>
        <p:txBody>
          <a:bodyPr rtlCol="0"/>
          <a:lstStyle/>
          <a:p>
            <a:pPr rtl="0"/>
            <a:r>
              <a:rPr lang="en-GB" dirty="0"/>
              <a:t>Structure of Speech Acts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2379" y="1780429"/>
            <a:ext cx="11227242" cy="4790700"/>
          </a:xfrm>
        </p:spPr>
        <p:txBody>
          <a:bodyPr rtlCol="0"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 speech act is </a:t>
            </a:r>
            <a:r>
              <a:rPr lang="en-GB" b="1" dirty="0"/>
              <a:t>distinct from a sentence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It is rarely expressed in </a:t>
            </a:r>
            <a:r>
              <a:rPr lang="en-GB" b="1" dirty="0"/>
              <a:t>a single utterance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Speech acts often include: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800" b="1" dirty="0"/>
              <a:t>Head act</a:t>
            </a:r>
            <a:r>
              <a:rPr lang="en-GB" sz="2800" dirty="0"/>
              <a:t> – the main communicative act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800" b="1" dirty="0"/>
              <a:t>Opening acts</a:t>
            </a:r>
            <a:r>
              <a:rPr lang="en-GB" sz="2800" dirty="0"/>
              <a:t> – preparation for the main act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800" b="1" dirty="0"/>
              <a:t>Closing acts</a:t>
            </a:r>
            <a:r>
              <a:rPr lang="en-GB" sz="2800" dirty="0"/>
              <a:t> – follow-up statements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Speakers may use </a:t>
            </a:r>
            <a:r>
              <a:rPr lang="en-GB" b="1" dirty="0"/>
              <a:t>multiple speech acts</a:t>
            </a:r>
            <a:r>
              <a:rPr lang="en-GB" dirty="0"/>
              <a:t> to achieve their communicative goal.</a:t>
            </a:r>
          </a:p>
        </p:txBody>
      </p:sp>
    </p:spTree>
    <p:extLst>
      <p:ext uri="{BB962C8B-B14F-4D97-AF65-F5344CB8AC3E}">
        <p14:creationId xmlns:p14="http://schemas.microsoft.com/office/powerpoint/2010/main" val="384888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918882"/>
            <a:ext cx="10972800" cy="1066800"/>
          </a:xfrm>
        </p:spPr>
        <p:txBody>
          <a:bodyPr rtlCol="0"/>
          <a:lstStyle/>
          <a:p>
            <a:pPr rtl="0"/>
            <a:r>
              <a:rPr lang="en-GB" dirty="0"/>
              <a:t>Complex Speech Acts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Sometimes a </a:t>
            </a:r>
            <a:r>
              <a:rPr lang="en-GB" b="1" dirty="0"/>
              <a:t>single speech act is not enough</a:t>
            </a:r>
            <a:r>
              <a:rPr lang="en-GB" dirty="0"/>
              <a:t> to achieve the intended meaning.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Speakers combine </a:t>
            </a:r>
            <a:r>
              <a:rPr lang="en-GB" b="1" dirty="0"/>
              <a:t>multiple speech acts</a:t>
            </a:r>
            <a:r>
              <a:rPr lang="en-GB" dirty="0"/>
              <a:t> in one turn.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This combination forms a </a:t>
            </a:r>
            <a:r>
              <a:rPr lang="en-GB" b="1" dirty="0"/>
              <a:t>complex speech act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All speech acts in a complex structure are </a:t>
            </a:r>
            <a:r>
              <a:rPr lang="en-GB" b="1" dirty="0"/>
              <a:t>produced by one speaker in one turn</a:t>
            </a:r>
            <a:r>
              <a:rPr lang="en-GB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14341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D297BB0-99FE-4C64-B68D-B12FD37679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3177" y="774759"/>
            <a:ext cx="3678518" cy="999564"/>
          </a:xfrm>
        </p:spPr>
        <p:txBody>
          <a:bodyPr/>
          <a:lstStyle/>
          <a:p>
            <a:pPr algn="ctr"/>
            <a:endParaRPr lang="en-GB" sz="2800" b="0" dirty="0"/>
          </a:p>
          <a:p>
            <a:pPr algn="ctr"/>
            <a:r>
              <a:rPr lang="en-GB" sz="2800" b="0" dirty="0"/>
              <a:t>Speech Event</a:t>
            </a:r>
            <a:r>
              <a:rPr lang="en-GB" sz="2800" dirty="0"/>
              <a:t>		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sz="quarter" idx="2"/>
          </p:nvPr>
        </p:nvSpPr>
        <p:spPr>
          <a:xfrm>
            <a:off x="176306" y="2133599"/>
            <a:ext cx="5392928" cy="4580966"/>
          </a:xfrm>
        </p:spPr>
        <p:txBody>
          <a:bodyPr rtlCol="0">
            <a:noAutofit/>
          </a:bodyPr>
          <a:lstStyle/>
          <a:p>
            <a:pPr rtl="0"/>
            <a:r>
              <a:rPr lang="en-GB" sz="2500" dirty="0"/>
              <a:t>Speech acts arranged in a recognized sequence create a </a:t>
            </a:r>
            <a:r>
              <a:rPr lang="en-GB" sz="2500" b="1" dirty="0"/>
              <a:t>speech event</a:t>
            </a:r>
            <a:r>
              <a:rPr lang="en-GB" sz="2500" dirty="0"/>
              <a:t>.</a:t>
            </a:r>
          </a:p>
          <a:p>
            <a:pPr rtl="0"/>
            <a:r>
              <a:rPr lang="en-GB" sz="2500" dirty="0"/>
              <a:t>A speech event involves: </a:t>
            </a:r>
          </a:p>
          <a:p>
            <a:pPr lvl="1"/>
            <a:r>
              <a:rPr lang="en-GB" sz="2500" dirty="0"/>
              <a:t>Multiple speech acts	</a:t>
            </a:r>
          </a:p>
          <a:p>
            <a:pPr lvl="1"/>
            <a:r>
              <a:rPr lang="en-GB" sz="2500" dirty="0"/>
              <a:t>Multiple speakers</a:t>
            </a:r>
          </a:p>
          <a:p>
            <a:pPr lvl="1"/>
            <a:r>
              <a:rPr lang="en-GB" sz="2500" dirty="0"/>
              <a:t>Several conversational turns.</a:t>
            </a:r>
          </a:p>
          <a:p>
            <a:pPr rtl="0"/>
            <a:r>
              <a:rPr lang="en-GB" sz="2500" dirty="0"/>
              <a:t>It represents verbal interaction within a social context. </a:t>
            </a:r>
          </a:p>
          <a:p>
            <a:pPr rtl="0"/>
            <a:r>
              <a:rPr lang="en-GB" sz="2500" dirty="0"/>
              <a:t>Speech events are the basic unit for analysing communication in speech communities.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8DCEB6-441A-46A0-94AA-9352E66ECA65}"/>
              </a:ext>
            </a:extLst>
          </p:cNvPr>
          <p:cNvSpPr>
            <a:spLocks noGrp="1"/>
          </p:cNvSpPr>
          <p:nvPr>
            <p:ph type="body" sz="half" idx="3"/>
          </p:nvPr>
        </p:nvSpPr>
        <p:spPr>
          <a:xfrm>
            <a:off x="6551049" y="774759"/>
            <a:ext cx="3678519" cy="1036111"/>
          </a:xfrm>
        </p:spPr>
        <p:txBody>
          <a:bodyPr/>
          <a:lstStyle/>
          <a:p>
            <a:pPr algn="ctr"/>
            <a:r>
              <a:rPr lang="en-GB" sz="2800" b="0" dirty="0"/>
              <a:t>Speech Situation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5E900B7-06F8-4380-B2A2-310A055154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91073" y="2277035"/>
            <a:ext cx="5067209" cy="4317684"/>
          </a:xfrm>
        </p:spPr>
        <p:txBody>
          <a:bodyPr>
            <a:normAutofit lnSpcReduction="10000"/>
          </a:bodyPr>
          <a:lstStyle/>
          <a:p>
            <a:r>
              <a:rPr lang="en-GB" sz="2500" dirty="0"/>
              <a:t>A </a:t>
            </a:r>
            <a:r>
              <a:rPr lang="en-GB" sz="2500" b="1" dirty="0"/>
              <a:t>speech situation </a:t>
            </a:r>
            <a:r>
              <a:rPr lang="en-GB" sz="2500" dirty="0"/>
              <a:t>refers to the time, place, and participants involved in communication.</a:t>
            </a:r>
          </a:p>
          <a:p>
            <a:r>
              <a:rPr lang="en-GB" sz="2500" dirty="0"/>
              <a:t>It can include one or several speech events. </a:t>
            </a:r>
          </a:p>
          <a:p>
            <a:r>
              <a:rPr lang="en-GB" sz="2500" dirty="0"/>
              <a:t>Combines linguistic and non-linguistic behaviour.</a:t>
            </a:r>
          </a:p>
          <a:p>
            <a:r>
              <a:rPr lang="en-GB" sz="2500" dirty="0"/>
              <a:t>Governed by social rules and norms of speech use. </a:t>
            </a:r>
          </a:p>
          <a:p>
            <a:r>
              <a:rPr lang="en-GB" sz="2500" dirty="0"/>
              <a:t>Helps explain the meaning and intention behind speech acts.</a:t>
            </a:r>
          </a:p>
        </p:txBody>
      </p:sp>
    </p:spTree>
    <p:extLst>
      <p:ext uri="{BB962C8B-B14F-4D97-AF65-F5344CB8AC3E}">
        <p14:creationId xmlns:p14="http://schemas.microsoft.com/office/powerpoint/2010/main" val="4237039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918882"/>
            <a:ext cx="10972800" cy="1066800"/>
          </a:xfrm>
        </p:spPr>
        <p:txBody>
          <a:bodyPr rtlCol="0"/>
          <a:lstStyle/>
          <a:p>
            <a:pPr rtl="0"/>
            <a:r>
              <a:rPr lang="en-GB" dirty="0"/>
              <a:t>Cultural Differences in Speech Act Realization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341" y="2303929"/>
            <a:ext cx="10972800" cy="4180960"/>
          </a:xfrm>
        </p:spPr>
        <p:txBody>
          <a:bodyPr rtlCol="0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Different cultures express the </a:t>
            </a:r>
            <a:r>
              <a:rPr lang="en-GB" b="1" dirty="0"/>
              <a:t>same speech act in different ways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Levels of </a:t>
            </a:r>
            <a:r>
              <a:rPr lang="en-GB" b="1" dirty="0"/>
              <a:t>directness or indirectness</a:t>
            </a:r>
            <a:r>
              <a:rPr lang="en-GB" dirty="0"/>
              <a:t> vary between cultures.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Cultural norms influence </a:t>
            </a:r>
            <a:r>
              <a:rPr lang="en-GB" b="1" dirty="0"/>
              <a:t>politeness, formality, and tone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Example: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800" dirty="0"/>
              <a:t>In some cultures requests are </a:t>
            </a:r>
            <a:r>
              <a:rPr lang="en-GB" sz="2800" b="1" dirty="0"/>
              <a:t>direct</a:t>
            </a:r>
            <a:r>
              <a:rPr lang="en-GB" sz="2800" dirty="0"/>
              <a:t> (“Give me the report.”).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sz="28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800" dirty="0"/>
              <a:t>In others they are </a:t>
            </a:r>
            <a:r>
              <a:rPr lang="en-GB" sz="2800" b="1" dirty="0"/>
              <a:t>indirect</a:t>
            </a:r>
            <a:r>
              <a:rPr lang="en-GB" sz="2800" dirty="0"/>
              <a:t> (“Could you possibly send the report?”).</a:t>
            </a:r>
          </a:p>
        </p:txBody>
      </p:sp>
    </p:spTree>
    <p:extLst>
      <p:ext uri="{BB962C8B-B14F-4D97-AF65-F5344CB8AC3E}">
        <p14:creationId xmlns:p14="http://schemas.microsoft.com/office/powerpoint/2010/main" val="30460858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945776"/>
            <a:ext cx="10972800" cy="1066800"/>
          </a:xfrm>
        </p:spPr>
        <p:txBody>
          <a:bodyPr rtlCol="0"/>
          <a:lstStyle/>
          <a:p>
            <a:pPr rtl="0"/>
            <a:r>
              <a:rPr lang="en-GB" dirty="0"/>
              <a:t>Most common speech acts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/>
        <p:txBody>
          <a:bodyPr numCol="2" rtlCol="0">
            <a:norm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1" dirty="0"/>
              <a:t>Requests</a:t>
            </a:r>
            <a:endParaRPr lang="en-GB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1" dirty="0"/>
              <a:t>Apologies</a:t>
            </a:r>
            <a:endParaRPr lang="en-GB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1" dirty="0"/>
              <a:t>Compliments</a:t>
            </a:r>
            <a:endParaRPr lang="en-GB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1" dirty="0"/>
              <a:t>Refusals</a:t>
            </a:r>
            <a:endParaRPr lang="en-GB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1" dirty="0"/>
              <a:t>Invitations</a:t>
            </a:r>
            <a:endParaRPr lang="en-GB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1" dirty="0"/>
              <a:t>Thanking</a:t>
            </a:r>
            <a:endParaRPr lang="en-GB" dirty="0"/>
          </a:p>
          <a:p>
            <a:pPr>
              <a:lnSpc>
                <a:spcPct val="150000"/>
              </a:lnSpc>
            </a:pPr>
            <a:r>
              <a:rPr lang="en-GB" dirty="0"/>
              <a:t>These speech acts vary widely across cultures in terms of: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structure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level of directness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politeness markers.</a:t>
            </a:r>
          </a:p>
        </p:txBody>
      </p:sp>
    </p:spTree>
    <p:extLst>
      <p:ext uri="{BB962C8B-B14F-4D97-AF65-F5344CB8AC3E}">
        <p14:creationId xmlns:p14="http://schemas.microsoft.com/office/powerpoint/2010/main" val="28225989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1647" y="793376"/>
            <a:ext cx="10972800" cy="1066800"/>
          </a:xfrm>
        </p:spPr>
        <p:txBody>
          <a:bodyPr rtlCol="0"/>
          <a:lstStyle/>
          <a:p>
            <a:pPr rtl="0"/>
            <a:r>
              <a:rPr lang="en-GB" dirty="0"/>
              <a:t>Pragmatic Failure in Intercultural Communication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r>
              <a:rPr lang="en-GB" dirty="0"/>
              <a:t>Pragmatic failure happens when speakers use language that is </a:t>
            </a:r>
            <a:r>
              <a:rPr lang="en-GB" u="sng" dirty="0"/>
              <a:t>grammatically correct but pragmatically inappropriate.</a:t>
            </a:r>
          </a:p>
          <a:p>
            <a:endParaRPr lang="en-GB" u="sng" dirty="0"/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Pragma-linguistic failure</a:t>
            </a:r>
            <a:r>
              <a:rPr lang="en-GB" dirty="0"/>
              <a:t> – incorrect linguistic form for a speech act.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Socio-pragmatic failure</a:t>
            </a:r>
            <a:r>
              <a:rPr lang="en-GB" dirty="0"/>
              <a:t> – misunderstanding social norms or expectations.</a:t>
            </a:r>
          </a:p>
          <a:p>
            <a:pPr>
              <a:buFont typeface="Arial" panose="020B0604020202020204" pitchFamily="34" charset="0"/>
              <a:buChar char="•"/>
            </a:pPr>
            <a:endParaRPr lang="en-GB" dirty="0"/>
          </a:p>
          <a:p>
            <a:r>
              <a:rPr lang="en-GB" dirty="0"/>
              <a:t>This can lead to: </a:t>
            </a:r>
          </a:p>
          <a:p>
            <a:r>
              <a:rPr lang="en-GB" dirty="0"/>
              <a:t>misunderstandings, perceived rudeness, communication breakdown.</a:t>
            </a:r>
          </a:p>
        </p:txBody>
      </p:sp>
    </p:spTree>
    <p:extLst>
      <p:ext uri="{BB962C8B-B14F-4D97-AF65-F5344CB8AC3E}">
        <p14:creationId xmlns:p14="http://schemas.microsoft.com/office/powerpoint/2010/main" val="41553488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202" y="699117"/>
            <a:ext cx="10972800" cy="1066800"/>
          </a:xfrm>
        </p:spPr>
        <p:txBody>
          <a:bodyPr rtlCol="0"/>
          <a:lstStyle/>
          <a:p>
            <a:pPr rtl="0"/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Request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sz="half" idx="1"/>
          </p:nvPr>
        </p:nvSpPr>
        <p:spPr>
          <a:xfrm>
            <a:off x="423169" y="2050025"/>
            <a:ext cx="4228730" cy="4341875"/>
          </a:xfrm>
        </p:spPr>
        <p:txBody>
          <a:bodyPr numCol="1" rtlCol="0">
            <a:normAutofit fontScale="92500" lnSpcReduction="10000"/>
          </a:bodyPr>
          <a:lstStyle/>
          <a:p>
            <a:pPr marL="109728" indent="0">
              <a:buNone/>
            </a:pPr>
            <a:r>
              <a:rPr lang="en-GB" sz="2500" u="sng" dirty="0"/>
              <a:t>Dialogue</a:t>
            </a:r>
          </a:p>
          <a:p>
            <a:pPr marL="109728" indent="0">
              <a:buNone/>
            </a:pPr>
            <a:endParaRPr lang="en-GB" sz="2500" u="sng" dirty="0"/>
          </a:p>
          <a:p>
            <a:pPr>
              <a:buFont typeface="Wingdings" panose="05000000000000000000" pitchFamily="2" charset="2"/>
              <a:buChar char="Ø"/>
            </a:pPr>
            <a:r>
              <a:rPr lang="en-GB" sz="2500" dirty="0"/>
              <a:t>German speaker:</a:t>
            </a:r>
            <a:br>
              <a:rPr lang="en-GB" sz="2500" dirty="0"/>
            </a:br>
            <a:r>
              <a:rPr lang="en-GB" sz="2500" dirty="0"/>
              <a:t>“John, send me the report today.”</a:t>
            </a:r>
          </a:p>
          <a:p>
            <a:pPr>
              <a:buFont typeface="Wingdings" panose="05000000000000000000" pitchFamily="2" charset="2"/>
              <a:buChar char="Ø"/>
            </a:pPr>
            <a:endParaRPr lang="en-GB" sz="2500" dirty="0"/>
          </a:p>
          <a:p>
            <a:pPr>
              <a:buFont typeface="Wingdings" panose="05000000000000000000" pitchFamily="2" charset="2"/>
              <a:buChar char="Ø"/>
            </a:pPr>
            <a:r>
              <a:rPr lang="en-GB" sz="2500" dirty="0"/>
              <a:t>American colleague:</a:t>
            </a:r>
            <a:br>
              <a:rPr lang="en-GB" sz="2500" dirty="0"/>
            </a:br>
            <a:r>
              <a:rPr lang="en-GB" sz="2500" dirty="0"/>
              <a:t>“Oh… okay. Is something wrong with it?”</a:t>
            </a:r>
          </a:p>
          <a:p>
            <a:pPr>
              <a:buFont typeface="Wingdings" panose="05000000000000000000" pitchFamily="2" charset="2"/>
              <a:buChar char="Ø"/>
            </a:pPr>
            <a:endParaRPr lang="en-GB" sz="2500" dirty="0"/>
          </a:p>
          <a:p>
            <a:pPr>
              <a:buFont typeface="Wingdings" panose="05000000000000000000" pitchFamily="2" charset="2"/>
              <a:buChar char="Ø"/>
            </a:pPr>
            <a:r>
              <a:rPr lang="en-GB" sz="2500" dirty="0"/>
              <a:t>German speaker:</a:t>
            </a:r>
            <a:br>
              <a:rPr lang="en-GB" sz="2500" dirty="0"/>
            </a:br>
            <a:r>
              <a:rPr lang="en-GB" sz="2500" dirty="0"/>
              <a:t>“No, I just need it.”</a:t>
            </a:r>
          </a:p>
          <a:p>
            <a:pPr marL="109728" indent="0">
              <a:buNone/>
            </a:pPr>
            <a:endParaRPr lang="en-GB" sz="25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84768F-7004-4EFB-8DD7-60B35B4021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75304" y="942187"/>
            <a:ext cx="6493527" cy="5216696"/>
          </a:xfrm>
        </p:spPr>
        <p:txBody>
          <a:bodyPr>
            <a:noAutofit/>
          </a:bodyPr>
          <a:lstStyle/>
          <a:p>
            <a:r>
              <a:rPr lang="en-GB" sz="2500" b="1" dirty="0"/>
              <a:t>Interlocutors: </a:t>
            </a:r>
            <a:r>
              <a:rPr lang="en-GB" sz="2500" dirty="0"/>
              <a:t>German EFL speaker vs. 			      American English speaker</a:t>
            </a:r>
          </a:p>
          <a:p>
            <a:r>
              <a:rPr lang="en-GB" sz="2500" b="1" dirty="0"/>
              <a:t>Context:</a:t>
            </a:r>
            <a:r>
              <a:rPr lang="en-GB" sz="2500" dirty="0"/>
              <a:t> A German employee speaking to an American colleague.</a:t>
            </a:r>
          </a:p>
          <a:p>
            <a:r>
              <a:rPr lang="en-GB" sz="2500" b="1" dirty="0"/>
              <a:t>Explanation</a:t>
            </a:r>
            <a:endParaRPr lang="en-GB" sz="25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2500" dirty="0"/>
              <a:t>In German communication style, direct requests are often considered efficient and normal.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500" dirty="0"/>
              <a:t>In American English, requests are typically softened with politeness markers.</a:t>
            </a:r>
          </a:p>
          <a:p>
            <a:pPr marL="109728" indent="0">
              <a:buNone/>
            </a:pPr>
            <a:r>
              <a:rPr lang="en-GB" sz="2400" dirty="0"/>
              <a:t>➡ Without the polite structure, the American colleague may interpret the request as </a:t>
            </a:r>
            <a:r>
              <a:rPr lang="en-GB" sz="2400" b="1" dirty="0"/>
              <a:t>rude or too demanding</a:t>
            </a:r>
            <a:r>
              <a:rPr lang="en-GB" sz="2400" dirty="0"/>
              <a:t>, even though the German speaker did not intend that.</a:t>
            </a:r>
            <a:endParaRPr lang="en-GB" sz="2500" dirty="0"/>
          </a:p>
        </p:txBody>
      </p:sp>
    </p:spTree>
    <p:extLst>
      <p:ext uri="{BB962C8B-B14F-4D97-AF65-F5344CB8AC3E}">
        <p14:creationId xmlns:p14="http://schemas.microsoft.com/office/powerpoint/2010/main" val="5824992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2526" y="699117"/>
            <a:ext cx="10972800" cy="1066800"/>
          </a:xfrm>
        </p:spPr>
        <p:txBody>
          <a:bodyPr rtlCol="0"/>
          <a:lstStyle/>
          <a:p>
            <a:pPr rtl="0"/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Compliment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sz="half" idx="1"/>
          </p:nvPr>
        </p:nvSpPr>
        <p:spPr>
          <a:xfrm>
            <a:off x="440924" y="1965340"/>
            <a:ext cx="4708125" cy="4586380"/>
          </a:xfrm>
        </p:spPr>
        <p:txBody>
          <a:bodyPr numCol="1" rtlCol="0">
            <a:normAutofit/>
          </a:bodyPr>
          <a:lstStyle/>
          <a:p>
            <a:pPr marL="109728" indent="0">
              <a:buNone/>
            </a:pPr>
            <a:r>
              <a:rPr lang="en-GB" sz="2400" u="sng" dirty="0"/>
              <a:t>Dialogue</a:t>
            </a:r>
          </a:p>
          <a:p>
            <a:pPr marL="109728" indent="0">
              <a:buNone/>
            </a:pPr>
            <a:endParaRPr lang="en-GB" sz="2400" u="sng" dirty="0"/>
          </a:p>
          <a:p>
            <a:pPr>
              <a:buFont typeface="Wingdings" panose="05000000000000000000" pitchFamily="2" charset="2"/>
              <a:buChar char="Ø"/>
            </a:pPr>
            <a:r>
              <a:rPr lang="en-GB" sz="2500" dirty="0"/>
              <a:t>American speaker:</a:t>
            </a:r>
            <a:br>
              <a:rPr lang="en-GB" sz="2500" dirty="0"/>
            </a:br>
            <a:r>
              <a:rPr lang="en-GB" sz="2500" dirty="0"/>
              <a:t>“I like your jacket!”</a:t>
            </a:r>
          </a:p>
          <a:p>
            <a:pPr>
              <a:buFont typeface="Wingdings" panose="05000000000000000000" pitchFamily="2" charset="2"/>
              <a:buChar char="Ø"/>
            </a:pPr>
            <a:endParaRPr lang="en-GB" sz="2500" dirty="0"/>
          </a:p>
          <a:p>
            <a:pPr>
              <a:buFont typeface="Wingdings" panose="05000000000000000000" pitchFamily="2" charset="2"/>
              <a:buChar char="Ø"/>
            </a:pPr>
            <a:r>
              <a:rPr lang="en-GB" sz="2500" dirty="0"/>
              <a:t>Macedonian speaker:</a:t>
            </a:r>
            <a:br>
              <a:rPr lang="en-GB" sz="2500" dirty="0"/>
            </a:br>
            <a:r>
              <a:rPr lang="en-GB" sz="2500" dirty="0"/>
              <a:t>“Oh, it’s old. I bought it a long time ago.”</a:t>
            </a:r>
          </a:p>
          <a:p>
            <a:pPr>
              <a:buFont typeface="Wingdings" panose="05000000000000000000" pitchFamily="2" charset="2"/>
              <a:buChar char="Ø"/>
            </a:pPr>
            <a:endParaRPr lang="en-GB" sz="2500" dirty="0"/>
          </a:p>
          <a:p>
            <a:pPr>
              <a:buFont typeface="Wingdings" panose="05000000000000000000" pitchFamily="2" charset="2"/>
              <a:buChar char="Ø"/>
            </a:pPr>
            <a:r>
              <a:rPr lang="en-GB" sz="2500" dirty="0"/>
              <a:t>American speaker:</a:t>
            </a:r>
            <a:br>
              <a:rPr lang="en-GB" sz="2500" dirty="0"/>
            </a:br>
            <a:r>
              <a:rPr lang="en-GB" sz="2500" dirty="0"/>
              <a:t>“But it looks great.”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84768F-7004-4EFB-8DD7-60B35B4021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42249" y="1010576"/>
            <a:ext cx="6007225" cy="5216696"/>
          </a:xfrm>
        </p:spPr>
        <p:txBody>
          <a:bodyPr>
            <a:noAutofit/>
          </a:bodyPr>
          <a:lstStyle/>
          <a:p>
            <a:r>
              <a:rPr lang="en-GB" sz="2500" b="1" dirty="0"/>
              <a:t>Interlocutors: </a:t>
            </a:r>
            <a:r>
              <a:rPr lang="en-GB" sz="2500" dirty="0"/>
              <a:t>Macedonian EFL speaker   		   vs. American English speaker</a:t>
            </a:r>
          </a:p>
          <a:p>
            <a:r>
              <a:rPr lang="en-GB" sz="2500" b="1" dirty="0"/>
              <a:t>Context:</a:t>
            </a:r>
            <a:r>
              <a:rPr lang="en-GB" sz="2500" dirty="0"/>
              <a:t> Someone compliments a new jacket.</a:t>
            </a:r>
          </a:p>
          <a:p>
            <a:endParaRPr lang="en-GB" sz="2500" dirty="0"/>
          </a:p>
          <a:p>
            <a:r>
              <a:rPr lang="en-GB" sz="2500" b="1" dirty="0"/>
              <a:t>Explanation</a:t>
            </a:r>
            <a:endParaRPr lang="en-GB" sz="25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2500" dirty="0"/>
              <a:t>In American English, compliments are usually accepted with “Thank you.”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500" dirty="0"/>
              <a:t>In Macedonian culture, people sometimes minimize the compliment to show modesty.</a:t>
            </a:r>
          </a:p>
          <a:p>
            <a:pPr>
              <a:buFont typeface="Arial" panose="020B0604020202020204" pitchFamily="34" charset="0"/>
              <a:buChar char="•"/>
            </a:pPr>
            <a:endParaRPr lang="en-GB" sz="2500" dirty="0"/>
          </a:p>
          <a:p>
            <a:pPr marL="109728" indent="0">
              <a:buNone/>
            </a:pPr>
            <a:r>
              <a:rPr lang="en-GB" sz="2500" dirty="0"/>
              <a:t>➡ Different responses reflect </a:t>
            </a:r>
            <a:r>
              <a:rPr lang="en-GB" sz="2500" b="1" dirty="0"/>
              <a:t>different politeness strategies</a:t>
            </a:r>
            <a:r>
              <a:rPr lang="en-GB" sz="2500" dirty="0"/>
              <a:t>.</a:t>
            </a:r>
          </a:p>
          <a:p>
            <a:endParaRPr lang="en-GB" sz="2500" dirty="0"/>
          </a:p>
        </p:txBody>
      </p:sp>
    </p:spTree>
    <p:extLst>
      <p:ext uri="{BB962C8B-B14F-4D97-AF65-F5344CB8AC3E}">
        <p14:creationId xmlns:p14="http://schemas.microsoft.com/office/powerpoint/2010/main" val="1942990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2526" y="699117"/>
            <a:ext cx="10972800" cy="1066800"/>
          </a:xfrm>
        </p:spPr>
        <p:txBody>
          <a:bodyPr rtlCol="0"/>
          <a:lstStyle/>
          <a:p>
            <a:pPr rtl="0"/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Refusal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sz="half" idx="1"/>
          </p:nvPr>
        </p:nvSpPr>
        <p:spPr>
          <a:xfrm>
            <a:off x="440924" y="1965340"/>
            <a:ext cx="4708125" cy="4586380"/>
          </a:xfrm>
        </p:spPr>
        <p:txBody>
          <a:bodyPr numCol="1" rtlCol="0">
            <a:normAutofit/>
          </a:bodyPr>
          <a:lstStyle/>
          <a:p>
            <a:pPr marL="109728" indent="0">
              <a:buNone/>
            </a:pPr>
            <a:r>
              <a:rPr lang="en-GB" sz="2400" u="sng" dirty="0"/>
              <a:t>Dialogue</a:t>
            </a:r>
          </a:p>
          <a:p>
            <a:pPr marL="109728" indent="0">
              <a:buNone/>
            </a:pPr>
            <a:endParaRPr lang="en-GB" sz="2400" u="sng" dirty="0"/>
          </a:p>
          <a:p>
            <a:pPr>
              <a:buFont typeface="Wingdings" panose="05000000000000000000" pitchFamily="2" charset="2"/>
              <a:buChar char="Ø"/>
            </a:pPr>
            <a:r>
              <a:rPr lang="en-GB" sz="2400" dirty="0"/>
              <a:t>British colleague: </a:t>
            </a:r>
          </a:p>
          <a:p>
            <a:pPr marL="109728" indent="0">
              <a:buNone/>
            </a:pPr>
            <a:r>
              <a:rPr lang="en-GB" sz="2400" dirty="0"/>
              <a:t>    “Would you like to come to    dinner tonight?”</a:t>
            </a:r>
          </a:p>
          <a:p>
            <a:pPr marL="109728" indent="0">
              <a:buNone/>
            </a:pPr>
            <a:r>
              <a:rPr lang="en-GB" sz="2400" dirty="0"/>
              <a:t>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sz="2400" dirty="0"/>
              <a:t>Macedonian colleague:</a:t>
            </a:r>
          </a:p>
          <a:p>
            <a:pPr marL="109728" indent="0">
              <a:buNone/>
            </a:pPr>
            <a:r>
              <a:rPr lang="en-GB" sz="2400" dirty="0"/>
              <a:t>    “No, I can’t. I’m busy.”</a:t>
            </a:r>
          </a:p>
          <a:p>
            <a:pPr marL="109728" indent="0">
              <a:buNone/>
            </a:pPr>
            <a:endParaRPr lang="en-GB" sz="2400" dirty="0"/>
          </a:p>
          <a:p>
            <a:pPr>
              <a:buFont typeface="Wingdings" panose="05000000000000000000" pitchFamily="2" charset="2"/>
              <a:buChar char="Ø"/>
            </a:pPr>
            <a:r>
              <a:rPr lang="en-GB" sz="2400" dirty="0"/>
              <a:t>British colleague: </a:t>
            </a:r>
          </a:p>
          <a:p>
            <a:pPr marL="109728" indent="0">
              <a:buNone/>
            </a:pPr>
            <a:r>
              <a:rPr lang="en-GB" sz="2400" dirty="0"/>
              <a:t>     “Oh, okay.”</a:t>
            </a:r>
            <a:endParaRPr lang="en-GB" sz="25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84768F-7004-4EFB-8DD7-60B35B4021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42249" y="820652"/>
            <a:ext cx="6007225" cy="5216696"/>
          </a:xfrm>
        </p:spPr>
        <p:txBody>
          <a:bodyPr>
            <a:noAutofit/>
          </a:bodyPr>
          <a:lstStyle/>
          <a:p>
            <a:r>
              <a:rPr lang="en-GB" sz="2400" b="1" dirty="0"/>
              <a:t>Interlocutors: </a:t>
            </a:r>
            <a:r>
              <a:rPr lang="en-GB" sz="2400" dirty="0"/>
              <a:t>Macedonian EFL speaker 			       vs. British English speaker</a:t>
            </a:r>
          </a:p>
          <a:p>
            <a:endParaRPr lang="en-GB" sz="2400" dirty="0"/>
          </a:p>
          <a:p>
            <a:r>
              <a:rPr lang="en-GB" sz="2400" b="1" dirty="0"/>
              <a:t>Context:</a:t>
            </a:r>
            <a:r>
              <a:rPr lang="en-GB" sz="2400" dirty="0"/>
              <a:t> Colleagues discussing plans.</a:t>
            </a:r>
          </a:p>
          <a:p>
            <a:endParaRPr lang="en-GB" sz="2400" dirty="0"/>
          </a:p>
          <a:p>
            <a:r>
              <a:rPr lang="en-GB" sz="2400" b="1" dirty="0"/>
              <a:t>Explanation</a:t>
            </a:r>
            <a:endParaRPr lang="en-GB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In Macedonian communication, direct refusals can be normal and clear.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In British culture, refusals are often softer and indirect.</a:t>
            </a:r>
          </a:p>
          <a:p>
            <a:r>
              <a:rPr lang="en-GB" sz="2400" dirty="0"/>
              <a:t>Typical British refusal: “I’d love to, but I already have plans tonight.”</a:t>
            </a:r>
          </a:p>
          <a:p>
            <a:endParaRPr lang="en-GB" sz="2400" dirty="0"/>
          </a:p>
          <a:p>
            <a:pPr marL="109728" indent="0">
              <a:buNone/>
            </a:pPr>
            <a:r>
              <a:rPr lang="en-GB" sz="2400" dirty="0"/>
              <a:t>➡ The Macedonian response may sound </a:t>
            </a:r>
            <a:r>
              <a:rPr lang="en-GB" sz="2400" b="1" dirty="0"/>
              <a:t>too direct</a:t>
            </a:r>
            <a:r>
              <a:rPr lang="en-GB" sz="2400" dirty="0"/>
              <a:t> in British culture.</a:t>
            </a:r>
          </a:p>
          <a:p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804746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2526" y="699117"/>
            <a:ext cx="10972800" cy="1066800"/>
          </a:xfrm>
        </p:spPr>
        <p:txBody>
          <a:bodyPr rtlCol="0"/>
          <a:lstStyle/>
          <a:p>
            <a:pPr rtl="0"/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Apology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sz="half" idx="1"/>
          </p:nvPr>
        </p:nvSpPr>
        <p:spPr>
          <a:xfrm>
            <a:off x="440924" y="1965340"/>
            <a:ext cx="4708125" cy="4586380"/>
          </a:xfrm>
        </p:spPr>
        <p:txBody>
          <a:bodyPr numCol="1" rtlCol="0">
            <a:normAutofit/>
          </a:bodyPr>
          <a:lstStyle/>
          <a:p>
            <a:pPr marL="109728" indent="0">
              <a:buNone/>
            </a:pPr>
            <a:r>
              <a:rPr lang="en-GB" sz="2500" u="sng" dirty="0"/>
              <a:t>Dialogue</a:t>
            </a:r>
          </a:p>
          <a:p>
            <a:pPr marL="109728" indent="0">
              <a:buNone/>
            </a:pPr>
            <a:endParaRPr lang="en-GB" sz="2500" u="sng" dirty="0"/>
          </a:p>
          <a:p>
            <a:pPr>
              <a:buFont typeface="Wingdings" panose="05000000000000000000" pitchFamily="2" charset="2"/>
              <a:buChar char="Ø"/>
            </a:pPr>
            <a:r>
              <a:rPr lang="en-GB" sz="2500" dirty="0"/>
              <a:t>British speaker:</a:t>
            </a:r>
            <a:br>
              <a:rPr lang="en-GB" sz="2500" dirty="0"/>
            </a:br>
            <a:r>
              <a:rPr lang="en-GB" sz="2500" dirty="0"/>
              <a:t>“Oh, I’m so sorry!”</a:t>
            </a:r>
          </a:p>
          <a:p>
            <a:pPr>
              <a:buFont typeface="Wingdings" panose="05000000000000000000" pitchFamily="2" charset="2"/>
              <a:buChar char="Ø"/>
            </a:pPr>
            <a:endParaRPr lang="en-GB" sz="2500" dirty="0"/>
          </a:p>
          <a:p>
            <a:pPr>
              <a:buFont typeface="Wingdings" panose="05000000000000000000" pitchFamily="2" charset="2"/>
              <a:buChar char="Ø"/>
            </a:pPr>
            <a:r>
              <a:rPr lang="en-GB" sz="2500" dirty="0"/>
              <a:t>Russian speaker:</a:t>
            </a:r>
            <a:br>
              <a:rPr lang="en-GB" sz="2500" dirty="0"/>
            </a:br>
            <a:r>
              <a:rPr lang="en-GB" sz="2500" dirty="0"/>
              <a:t>“It’s okay.”</a:t>
            </a:r>
          </a:p>
          <a:p>
            <a:pPr>
              <a:buFont typeface="Wingdings" panose="05000000000000000000" pitchFamily="2" charset="2"/>
              <a:buChar char="Ø"/>
            </a:pPr>
            <a:endParaRPr lang="en-GB" sz="2500" dirty="0"/>
          </a:p>
          <a:p>
            <a:pPr>
              <a:buFont typeface="Wingdings" panose="05000000000000000000" pitchFamily="2" charset="2"/>
              <a:buChar char="Ø"/>
            </a:pPr>
            <a:r>
              <a:rPr lang="en-GB" sz="2500" dirty="0"/>
              <a:t>Russian speaker later to friend:</a:t>
            </a:r>
            <a:br>
              <a:rPr lang="en-GB" sz="2500" dirty="0"/>
            </a:br>
            <a:r>
              <a:rPr lang="en-GB" sz="2500" dirty="0"/>
              <a:t>“Why did he apologize so much? It was nothing.”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84768F-7004-4EFB-8DD7-60B35B4021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43851" y="820652"/>
            <a:ext cx="6007225" cy="5216696"/>
          </a:xfrm>
        </p:spPr>
        <p:txBody>
          <a:bodyPr>
            <a:noAutofit/>
          </a:bodyPr>
          <a:lstStyle/>
          <a:p>
            <a:r>
              <a:rPr lang="en-GB" sz="2400" b="1" dirty="0"/>
              <a:t>Interlocutors: </a:t>
            </a:r>
            <a:r>
              <a:rPr lang="en-GB" sz="2400" dirty="0"/>
              <a:t>Russian EFL speaker vs.    			       British English speaker</a:t>
            </a:r>
          </a:p>
          <a:p>
            <a:endParaRPr lang="en-GB" sz="2400" dirty="0"/>
          </a:p>
          <a:p>
            <a:r>
              <a:rPr lang="en-GB" sz="2400" b="1" dirty="0"/>
              <a:t>Context:</a:t>
            </a:r>
            <a:r>
              <a:rPr lang="en-GB" sz="2400" dirty="0"/>
              <a:t> Someone accidentally bumps into another person.</a:t>
            </a:r>
          </a:p>
          <a:p>
            <a:endParaRPr lang="en-GB" sz="2400" dirty="0"/>
          </a:p>
          <a:p>
            <a:r>
              <a:rPr lang="en-GB" sz="2400" b="1" dirty="0"/>
              <a:t>Explanation</a:t>
            </a:r>
            <a:endParaRPr lang="en-GB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In British English, frequent apologies are common and part of politeness culture.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In Russian communication, excessive apologies may seem unnecessary or exaggerated.</a:t>
            </a:r>
          </a:p>
          <a:p>
            <a:pPr marL="109728" indent="0">
              <a:buNone/>
            </a:pPr>
            <a:endParaRPr lang="en-GB" sz="2400" dirty="0"/>
          </a:p>
          <a:p>
            <a:pPr marL="109728" indent="0">
              <a:buNone/>
            </a:pPr>
            <a:r>
              <a:rPr lang="en-GB" sz="2400" dirty="0"/>
              <a:t>➡ Cultural expectations about </a:t>
            </a:r>
            <a:r>
              <a:rPr lang="en-GB" sz="2400" b="1" dirty="0"/>
              <a:t>how often to apologize</a:t>
            </a:r>
            <a:r>
              <a:rPr lang="en-GB" sz="2400" dirty="0"/>
              <a:t> differ significantly.</a:t>
            </a:r>
          </a:p>
          <a:p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326351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2526" y="699117"/>
            <a:ext cx="10972800" cy="1066800"/>
          </a:xfrm>
        </p:spPr>
        <p:txBody>
          <a:bodyPr rtlCol="0"/>
          <a:lstStyle/>
          <a:p>
            <a:pPr rtl="0"/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Complaint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sz="half" idx="1"/>
          </p:nvPr>
        </p:nvSpPr>
        <p:spPr>
          <a:xfrm>
            <a:off x="440925" y="1965340"/>
            <a:ext cx="4077810" cy="4586380"/>
          </a:xfrm>
        </p:spPr>
        <p:txBody>
          <a:bodyPr numCol="1" rtlCol="0">
            <a:normAutofit/>
          </a:bodyPr>
          <a:lstStyle/>
          <a:p>
            <a:pPr marL="109728" indent="0">
              <a:buNone/>
            </a:pPr>
            <a:r>
              <a:rPr lang="en-GB" sz="2400" u="sng" dirty="0"/>
              <a:t>Dialogue</a:t>
            </a:r>
          </a:p>
          <a:p>
            <a:pPr marL="109728" indent="0">
              <a:buNone/>
            </a:pPr>
            <a:endParaRPr lang="en-GB" sz="2400" dirty="0"/>
          </a:p>
          <a:p>
            <a:pPr>
              <a:buFont typeface="Wingdings" panose="05000000000000000000" pitchFamily="2" charset="2"/>
              <a:buChar char="Ø"/>
            </a:pPr>
            <a:r>
              <a:rPr lang="en-GB" sz="2400" dirty="0"/>
              <a:t>Turkish speaker: </a:t>
            </a:r>
          </a:p>
          <a:p>
            <a:pPr marL="109728" indent="0">
              <a:buNone/>
            </a:pPr>
            <a:r>
              <a:rPr lang="en-GB" sz="2400" dirty="0"/>
              <a:t>“My order is late. You need to send it now.”</a:t>
            </a:r>
          </a:p>
          <a:p>
            <a:pPr marL="109728" indent="0">
              <a:buNone/>
            </a:pPr>
            <a:endParaRPr lang="en-GB" sz="2400" dirty="0"/>
          </a:p>
          <a:p>
            <a:pPr>
              <a:buFont typeface="Wingdings" panose="05000000000000000000" pitchFamily="2" charset="2"/>
              <a:buChar char="Ø"/>
            </a:pPr>
            <a:r>
              <a:rPr lang="en-GB" sz="2400" dirty="0"/>
              <a:t>Customer service rep:                  “I understand. Let me check the system and see what we can do.”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84768F-7004-4EFB-8DD7-60B35B4021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82215" y="859655"/>
            <a:ext cx="6468862" cy="5621044"/>
          </a:xfrm>
        </p:spPr>
        <p:txBody>
          <a:bodyPr>
            <a:noAutofit/>
          </a:bodyPr>
          <a:lstStyle/>
          <a:p>
            <a:r>
              <a:rPr lang="en-GB" sz="2400" b="1" dirty="0"/>
              <a:t>Interlocutors: </a:t>
            </a:r>
            <a:r>
              <a:rPr lang="en-GB" sz="2400" dirty="0"/>
              <a:t>Turkish EFL Speaker vs American Customer Service Representative</a:t>
            </a:r>
          </a:p>
          <a:p>
            <a:endParaRPr lang="en-GB" sz="2400" dirty="0"/>
          </a:p>
          <a:p>
            <a:r>
              <a:rPr lang="en-GB" sz="2400" b="1" dirty="0"/>
              <a:t>Context: </a:t>
            </a:r>
            <a:r>
              <a:rPr lang="en-GB" sz="2400" dirty="0"/>
              <a:t>A Turkish customer calls an American company about a delayed shipment.</a:t>
            </a:r>
          </a:p>
          <a:p>
            <a:endParaRPr lang="en-GB" sz="2400" dirty="0"/>
          </a:p>
          <a:p>
            <a:r>
              <a:rPr lang="en-GB" sz="2400" b="1" dirty="0"/>
              <a:t>Explanation</a:t>
            </a:r>
            <a:endParaRPr lang="en-GB" sz="2400" dirty="0"/>
          </a:p>
          <a:p>
            <a:r>
              <a:rPr lang="en-GB" sz="2400" dirty="0"/>
              <a:t>The complaint is very direct, using “You need to…,” which can sound demanding or impolite in American English.</a:t>
            </a:r>
          </a:p>
          <a:p>
            <a:endParaRPr lang="en-GB" sz="2400" dirty="0"/>
          </a:p>
          <a:p>
            <a:pPr marL="109728" indent="0">
              <a:buNone/>
            </a:pPr>
            <a:r>
              <a:rPr lang="en-GB" sz="2400" dirty="0"/>
              <a:t>➡ Direct grammatical statements can seem rude or confrontational in English, even though the speaker is simply complaining.</a:t>
            </a:r>
          </a:p>
        </p:txBody>
      </p:sp>
    </p:spTree>
    <p:extLst>
      <p:ext uri="{BB962C8B-B14F-4D97-AF65-F5344CB8AC3E}">
        <p14:creationId xmlns:p14="http://schemas.microsoft.com/office/powerpoint/2010/main" val="1454055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2526" y="699117"/>
            <a:ext cx="10972800" cy="1066800"/>
          </a:xfrm>
        </p:spPr>
        <p:txBody>
          <a:bodyPr rtlCol="0"/>
          <a:lstStyle/>
          <a:p>
            <a:pPr rtl="0"/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Warning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sz="half" idx="1"/>
          </p:nvPr>
        </p:nvSpPr>
        <p:spPr>
          <a:xfrm>
            <a:off x="440925" y="1965340"/>
            <a:ext cx="4077810" cy="4586380"/>
          </a:xfrm>
        </p:spPr>
        <p:txBody>
          <a:bodyPr numCol="1" rtlCol="0">
            <a:normAutofit/>
          </a:bodyPr>
          <a:lstStyle/>
          <a:p>
            <a:pPr marL="109728" indent="0">
              <a:buNone/>
            </a:pPr>
            <a:r>
              <a:rPr lang="en-GB" sz="2400" u="sng" dirty="0"/>
              <a:t>Dialogue</a:t>
            </a:r>
          </a:p>
          <a:p>
            <a:pPr marL="109728" indent="0">
              <a:buNone/>
            </a:pPr>
            <a:endParaRPr lang="en-GB" sz="2400" dirty="0"/>
          </a:p>
          <a:p>
            <a:pPr>
              <a:buFont typeface="Wingdings" panose="05000000000000000000" pitchFamily="2" charset="2"/>
              <a:buChar char="Ø"/>
            </a:pPr>
            <a:r>
              <a:rPr lang="en-GB" sz="2400" dirty="0"/>
              <a:t>Spanish speaker:              “You press this button, the computer will crash.”</a:t>
            </a:r>
          </a:p>
          <a:p>
            <a:pPr>
              <a:buFont typeface="Wingdings" panose="05000000000000000000" pitchFamily="2" charset="2"/>
              <a:buChar char="Ø"/>
            </a:pPr>
            <a:endParaRPr lang="en-GB" sz="2400" dirty="0"/>
          </a:p>
          <a:p>
            <a:pPr>
              <a:buFont typeface="Wingdings" panose="05000000000000000000" pitchFamily="2" charset="2"/>
              <a:buChar char="Ø"/>
            </a:pPr>
            <a:r>
              <a:rPr lang="en-GB" sz="2400" dirty="0"/>
              <a:t>Colleague:                               “Oh… thanks for the warning.”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84768F-7004-4EFB-8DD7-60B35B4021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82215" y="859655"/>
            <a:ext cx="6468862" cy="5621044"/>
          </a:xfrm>
        </p:spPr>
        <p:txBody>
          <a:bodyPr>
            <a:noAutofit/>
          </a:bodyPr>
          <a:lstStyle/>
          <a:p>
            <a:r>
              <a:rPr lang="en-GB" sz="2400" b="1" dirty="0"/>
              <a:t>Interlocutors: </a:t>
            </a:r>
            <a:r>
              <a:rPr lang="en-GB" sz="2400" dirty="0"/>
              <a:t>Spanish EFL Speaker vs English-			speaking Colleague</a:t>
            </a:r>
          </a:p>
          <a:p>
            <a:endParaRPr lang="en-GB" sz="2400" dirty="0"/>
          </a:p>
          <a:p>
            <a:r>
              <a:rPr lang="en-GB" sz="2400" b="1" dirty="0"/>
              <a:t>Context: </a:t>
            </a:r>
            <a:r>
              <a:rPr lang="en-GB" sz="2400" dirty="0"/>
              <a:t>Two colleagues are working on installing new software. A Spanish EFL speaker notices a potential mistake.</a:t>
            </a:r>
          </a:p>
          <a:p>
            <a:endParaRPr lang="en-GB" sz="2400" dirty="0"/>
          </a:p>
          <a:p>
            <a:r>
              <a:rPr lang="en-GB" sz="2400" b="1" dirty="0"/>
              <a:t>Explanation</a:t>
            </a:r>
            <a:endParaRPr lang="en-GB" sz="2400" dirty="0"/>
          </a:p>
          <a:p>
            <a:r>
              <a:rPr lang="en-GB" sz="2400" dirty="0"/>
              <a:t>the sentence is direct and imperative-sounding, which can feel abrupt or even rude in English. In English, a softer warning is more natural. </a:t>
            </a:r>
          </a:p>
          <a:p>
            <a:endParaRPr lang="en-GB" sz="2400" dirty="0"/>
          </a:p>
          <a:p>
            <a:pPr marL="109728" indent="0">
              <a:buNone/>
            </a:pPr>
            <a:r>
              <a:rPr lang="en-GB" sz="2400" dirty="0"/>
              <a:t>➡ The warning is understandable, but without hedging or polite framing, it can seem blunt or socially inappropriate.</a:t>
            </a:r>
          </a:p>
        </p:txBody>
      </p:sp>
    </p:spTree>
    <p:extLst>
      <p:ext uri="{BB962C8B-B14F-4D97-AF65-F5344CB8AC3E}">
        <p14:creationId xmlns:p14="http://schemas.microsoft.com/office/powerpoint/2010/main" val="2533404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2526" y="699117"/>
            <a:ext cx="10972800" cy="1066800"/>
          </a:xfrm>
        </p:spPr>
        <p:txBody>
          <a:bodyPr rtlCol="0"/>
          <a:lstStyle/>
          <a:p>
            <a:pPr rtl="0"/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Suggestion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sz="half" idx="1"/>
          </p:nvPr>
        </p:nvSpPr>
        <p:spPr>
          <a:xfrm>
            <a:off x="440925" y="1965340"/>
            <a:ext cx="4077810" cy="4586380"/>
          </a:xfrm>
        </p:spPr>
        <p:txBody>
          <a:bodyPr numCol="1" rtlCol="0">
            <a:normAutofit/>
          </a:bodyPr>
          <a:lstStyle/>
          <a:p>
            <a:pPr marL="109728" indent="0">
              <a:buNone/>
            </a:pPr>
            <a:r>
              <a:rPr lang="en-GB" sz="2400" u="sng" dirty="0"/>
              <a:t>Dialogue</a:t>
            </a:r>
          </a:p>
          <a:p>
            <a:pPr marL="109728" indent="0">
              <a:buNone/>
            </a:pPr>
            <a:endParaRPr lang="en-GB" sz="2400" dirty="0"/>
          </a:p>
          <a:p>
            <a:pPr>
              <a:buFont typeface="Wingdings" panose="05000000000000000000" pitchFamily="2" charset="2"/>
              <a:buChar char="Ø"/>
            </a:pPr>
            <a:r>
              <a:rPr lang="en-GB" sz="2400" dirty="0"/>
              <a:t>American Manager: </a:t>
            </a:r>
          </a:p>
          <a:p>
            <a:pPr marL="109728" indent="0">
              <a:buNone/>
            </a:pPr>
            <a:r>
              <a:rPr lang="en-GB" sz="2400" dirty="0"/>
              <a:t>“We need to finalize the client     report by Friday. Any ideas on how to speed things up?”</a:t>
            </a:r>
          </a:p>
          <a:p>
            <a:pPr marL="109728" indent="0">
              <a:buNone/>
            </a:pPr>
            <a:endParaRPr lang="en-GB" sz="2400" dirty="0"/>
          </a:p>
          <a:p>
            <a:pPr>
              <a:buFont typeface="Wingdings" panose="05000000000000000000" pitchFamily="2" charset="2"/>
              <a:buChar char="Ø"/>
            </a:pPr>
            <a:r>
              <a:rPr lang="en-GB" sz="2400" dirty="0"/>
              <a:t>Macedonian employee:                   “You should submit the draft by Wednesday. It will be better.”</a:t>
            </a:r>
            <a:endParaRPr lang="en-GB" sz="25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84768F-7004-4EFB-8DD7-60B35B4021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82215" y="859655"/>
            <a:ext cx="6468862" cy="5621044"/>
          </a:xfrm>
        </p:spPr>
        <p:txBody>
          <a:bodyPr>
            <a:noAutofit/>
          </a:bodyPr>
          <a:lstStyle/>
          <a:p>
            <a:r>
              <a:rPr lang="en-GB" sz="2400" b="1" dirty="0"/>
              <a:t>Interlocutors: </a:t>
            </a:r>
            <a:r>
              <a:rPr lang="en-GB" sz="2400" dirty="0"/>
              <a:t>Macedonian EFL speaker 		                vs. American English speaker</a:t>
            </a:r>
          </a:p>
          <a:p>
            <a:endParaRPr lang="en-GB" sz="2400" dirty="0"/>
          </a:p>
          <a:p>
            <a:r>
              <a:rPr lang="en-GB" sz="2400" b="1" dirty="0"/>
              <a:t>Context: </a:t>
            </a:r>
            <a:r>
              <a:rPr lang="en-GB" sz="2400" dirty="0"/>
              <a:t>A Macedonian employee is discussing project deadlines with an American manager.</a:t>
            </a:r>
          </a:p>
          <a:p>
            <a:endParaRPr lang="en-GB" sz="2400" dirty="0"/>
          </a:p>
          <a:p>
            <a:r>
              <a:rPr lang="en-GB" sz="2400" b="1" dirty="0"/>
              <a:t>Explanation</a:t>
            </a:r>
            <a:endParaRPr lang="en-GB" sz="2400" dirty="0"/>
          </a:p>
          <a:p>
            <a:r>
              <a:rPr lang="en-GB" sz="2400" dirty="0"/>
              <a:t>the phrasing is too direct for American workplace culture.</a:t>
            </a:r>
          </a:p>
          <a:p>
            <a:r>
              <a:rPr lang="en-GB" sz="2400" dirty="0"/>
              <a:t>In American English, suggestions are usually softened with modal verbs or hedging. </a:t>
            </a:r>
          </a:p>
          <a:p>
            <a:endParaRPr lang="en-GB" sz="2400" dirty="0"/>
          </a:p>
          <a:p>
            <a:pPr marL="109728" indent="0">
              <a:buNone/>
            </a:pPr>
            <a:r>
              <a:rPr lang="en-GB" sz="2400" dirty="0"/>
              <a:t>➡ The directness can make the suggestion sound like an order, causing discomfort or misinterpretation in intercultural settings.</a:t>
            </a:r>
          </a:p>
        </p:txBody>
      </p:sp>
    </p:spTree>
    <p:extLst>
      <p:ext uri="{BB962C8B-B14F-4D97-AF65-F5344CB8AC3E}">
        <p14:creationId xmlns:p14="http://schemas.microsoft.com/office/powerpoint/2010/main" val="2934607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9953" y="883024"/>
            <a:ext cx="10972800" cy="1066800"/>
          </a:xfrm>
        </p:spPr>
        <p:txBody>
          <a:bodyPr rtlCol="0">
            <a:normAutofit fontScale="90000"/>
          </a:bodyPr>
          <a:lstStyle/>
          <a:p>
            <a:pPr rtl="0"/>
            <a:r>
              <a:rPr lang="en-GB" dirty="0"/>
              <a:t>Importance of Speech Acts in Intercultural Communication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Speech acts help people perform actions through language.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Their form and interpretation vary across cultures.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Misunderstandings can occur when speakers apply the norms of their own culture.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Developing pragmatic competence is essential for successful communication.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Understanding speech acts improves: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intercultural communication, language learning, professional and social interactions.</a:t>
            </a:r>
          </a:p>
        </p:txBody>
      </p:sp>
    </p:spTree>
    <p:extLst>
      <p:ext uri="{BB962C8B-B14F-4D97-AF65-F5344CB8AC3E}">
        <p14:creationId xmlns:p14="http://schemas.microsoft.com/office/powerpoint/2010/main" val="3809512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78223"/>
            <a:ext cx="10972800" cy="1066800"/>
          </a:xfrm>
        </p:spPr>
        <p:txBody>
          <a:bodyPr rtlCol="0"/>
          <a:lstStyle/>
          <a:p>
            <a:pPr rtl="0"/>
            <a:r>
              <a:rPr lang="en-GB" b="1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0306" y="1837047"/>
            <a:ext cx="10972800" cy="4527894"/>
          </a:xfrm>
        </p:spPr>
        <p:txBody>
          <a:bodyPr rtlCol="0">
            <a:norm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en-GB" dirty="0"/>
              <a:t>Speech acts are a </a:t>
            </a:r>
            <a:r>
              <a:rPr lang="en-GB" b="1" dirty="0"/>
              <a:t>key component of pragmatic competence</a:t>
            </a:r>
            <a:r>
              <a:rPr lang="en-GB" dirty="0"/>
              <a:t>.</a:t>
            </a:r>
          </a:p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en-GB" dirty="0"/>
              <a:t>Successful communication requires understanding both </a:t>
            </a:r>
            <a:r>
              <a:rPr lang="en-GB" b="1" dirty="0"/>
              <a:t>language structure and cultural norms</a:t>
            </a:r>
            <a:r>
              <a:rPr lang="en-GB" dirty="0"/>
              <a:t>.</a:t>
            </a:r>
          </a:p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en-GB" dirty="0"/>
              <a:t>Cultural differences influence how speech acts such as </a:t>
            </a:r>
            <a:r>
              <a:rPr lang="en-GB" b="1" dirty="0"/>
              <a:t>requests, apologies, and compliments</a:t>
            </a:r>
            <a:r>
              <a:rPr lang="en-GB" dirty="0"/>
              <a:t> are expressed.</a:t>
            </a:r>
          </a:p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en-GB" dirty="0"/>
              <a:t>Awareness of these differences helps </a:t>
            </a:r>
            <a:r>
              <a:rPr lang="en-GB" b="1" dirty="0"/>
              <a:t>prevent miscommunication and strengthen intercultural relationships</a:t>
            </a:r>
            <a:r>
              <a:rPr lang="en-GB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876548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34734-145E-4BEB-BD49-6AFDD70D80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78943"/>
            <a:ext cx="10972800" cy="1066800"/>
          </a:xfrm>
        </p:spPr>
        <p:txBody>
          <a:bodyPr/>
          <a:lstStyle/>
          <a:p>
            <a:r>
              <a:rPr lang="en-GB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718CC1-2DC3-4B64-8418-B622B23D0A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5412" y="1645742"/>
            <a:ext cx="11481787" cy="5287717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GB" sz="1600" dirty="0"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Austin, J. L. (1962). How to Do Things with Words. Harvard University Press.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sz="1600" dirty="0"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Brown, P., &amp; Levinson, S. C. (1987). Politeness: Some Universals in Language Usage. Cambridge University Press.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sz="1600" dirty="0" err="1"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Daskalovska</a:t>
            </a:r>
            <a:r>
              <a:rPr lang="en-GB" sz="1600" dirty="0"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, N., </a:t>
            </a:r>
            <a:r>
              <a:rPr lang="en-GB" sz="1600" dirty="0" err="1"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Ivanovska</a:t>
            </a:r>
            <a:r>
              <a:rPr lang="en-GB" sz="1600" dirty="0"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, B. &amp; </a:t>
            </a:r>
            <a:r>
              <a:rPr lang="en-GB" sz="1600" dirty="0" err="1"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Kusevska</a:t>
            </a:r>
            <a:r>
              <a:rPr lang="en-GB" sz="1600" dirty="0"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, M. (2017) </a:t>
            </a:r>
            <a:r>
              <a:rPr lang="en-GB" sz="1600" dirty="0" err="1"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Реализација</a:t>
            </a:r>
            <a:r>
              <a:rPr lang="en-GB" sz="1600" dirty="0"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600" dirty="0" err="1"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на</a:t>
            </a:r>
            <a:r>
              <a:rPr lang="en-GB" sz="1600" dirty="0"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600" dirty="0" err="1"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говорниот</a:t>
            </a:r>
            <a:r>
              <a:rPr lang="en-GB" sz="1600" dirty="0"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600" dirty="0" err="1"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чин</a:t>
            </a:r>
            <a:r>
              <a:rPr lang="en-GB" sz="1600" dirty="0"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600" dirty="0" err="1"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замолување</a:t>
            </a:r>
            <a:r>
              <a:rPr lang="en-GB" sz="1600" dirty="0"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600" dirty="0" err="1"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кај</a:t>
            </a:r>
            <a:r>
              <a:rPr lang="en-GB" sz="1600" dirty="0"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600" dirty="0" err="1"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изучувачи</a:t>
            </a:r>
            <a:r>
              <a:rPr lang="en-GB" sz="1600" dirty="0"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600" dirty="0" err="1"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на</a:t>
            </a:r>
            <a:r>
              <a:rPr lang="en-GB" sz="1600" dirty="0"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600" dirty="0" err="1"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англискиот</a:t>
            </a:r>
            <a:r>
              <a:rPr lang="en-GB" sz="1600" dirty="0"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600" dirty="0" err="1"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јазик</a:t>
            </a:r>
            <a:r>
              <a:rPr lang="en-GB" sz="1600" dirty="0"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600" dirty="0" err="1"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на</a:t>
            </a:r>
            <a:r>
              <a:rPr lang="en-GB" sz="1600" dirty="0"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600" dirty="0" err="1"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различно</a:t>
            </a:r>
            <a:r>
              <a:rPr lang="en-GB" sz="1600" dirty="0"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600" dirty="0" err="1"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ниво</a:t>
            </a:r>
            <a:r>
              <a:rPr lang="en-GB" sz="1600" dirty="0"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600" dirty="0" err="1"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на</a:t>
            </a:r>
            <a:r>
              <a:rPr lang="en-GB" sz="1600" dirty="0"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600" dirty="0" err="1"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јазична</a:t>
            </a:r>
            <a:r>
              <a:rPr lang="en-GB" sz="1600" dirty="0"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600" dirty="0" err="1"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компетенција</a:t>
            </a:r>
            <a:r>
              <a:rPr lang="en-GB" sz="1600" dirty="0"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. Knowledge in Practice, 20 (6). pp. 2747-2753. ISSN 2545-4439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sz="1600" dirty="0" err="1"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Ivanovska</a:t>
            </a:r>
            <a:r>
              <a:rPr lang="en-GB" sz="1600" dirty="0"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, B. (2019) </a:t>
            </a:r>
            <a:r>
              <a:rPr lang="en-GB" sz="1600" i="1" dirty="0"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Говорниот </a:t>
            </a:r>
            <a:r>
              <a:rPr lang="en-GB" sz="1600" i="1" dirty="0" err="1"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чин</a:t>
            </a:r>
            <a:r>
              <a:rPr lang="en-GB" sz="1600" i="1" dirty="0"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„</a:t>
            </a:r>
            <a:r>
              <a:rPr lang="en-GB" sz="1600" i="1" dirty="0" err="1"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одбивање</a:t>
            </a:r>
            <a:r>
              <a:rPr lang="en-GB" sz="1600" i="1" dirty="0"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“ и </a:t>
            </a:r>
            <a:r>
              <a:rPr lang="en-GB" sz="1600" i="1" dirty="0" err="1"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негова</a:t>
            </a:r>
            <a:r>
              <a:rPr lang="en-GB" sz="1600" i="1" dirty="0"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600" i="1" dirty="0" err="1"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реализација</a:t>
            </a:r>
            <a:r>
              <a:rPr lang="en-GB" sz="1600" i="1" dirty="0"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600" i="1" dirty="0" err="1"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кај</a:t>
            </a:r>
            <a:r>
              <a:rPr lang="en-GB" sz="1600" i="1" dirty="0"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600" i="1" dirty="0" err="1"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македонските</a:t>
            </a:r>
            <a:r>
              <a:rPr lang="en-GB" sz="1600" i="1" dirty="0"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600" i="1" dirty="0" err="1"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изучувачи</a:t>
            </a:r>
            <a:r>
              <a:rPr lang="en-GB" sz="1600" i="1" dirty="0"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600" i="1" dirty="0" err="1"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на</a:t>
            </a:r>
            <a:r>
              <a:rPr lang="en-GB" sz="1600" i="1" dirty="0"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600" i="1" dirty="0" err="1"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странски</a:t>
            </a:r>
            <a:r>
              <a:rPr lang="en-GB" sz="1600" i="1" dirty="0"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600" i="1" dirty="0" err="1"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јазик</a:t>
            </a:r>
            <a:r>
              <a:rPr lang="en-GB" sz="1600" i="1" dirty="0"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GB" sz="1600" dirty="0"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 [The speech act of “refusal” and its realization by Macedonian foreign language learners]. </a:t>
            </a:r>
            <a:r>
              <a:rPr lang="en-GB" sz="1600" dirty="0" err="1"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Зборник</a:t>
            </a:r>
            <a:r>
              <a:rPr lang="en-GB" sz="1600" dirty="0"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600" dirty="0" err="1"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на</a:t>
            </a:r>
            <a:r>
              <a:rPr lang="en-GB" sz="1600" dirty="0"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600" dirty="0" err="1"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трудови</a:t>
            </a:r>
            <a:r>
              <a:rPr lang="en-GB" sz="1600" dirty="0"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/ ФИЛКО </a:t>
            </a:r>
            <a:r>
              <a:rPr lang="en-GB" sz="1600" dirty="0" err="1"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Четврта</a:t>
            </a:r>
            <a:r>
              <a:rPr lang="en-GB" sz="1600" dirty="0"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600" dirty="0" err="1"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меѓународна</a:t>
            </a:r>
            <a:r>
              <a:rPr lang="en-GB" sz="1600" dirty="0"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600" dirty="0" err="1"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научна</a:t>
            </a:r>
            <a:r>
              <a:rPr lang="en-GB" sz="1600" dirty="0"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600" dirty="0" err="1"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конференција</a:t>
            </a:r>
            <a:r>
              <a:rPr lang="en-GB" sz="1600" dirty="0"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, 23-25 </a:t>
            </a:r>
            <a:r>
              <a:rPr lang="en-GB" sz="1600" dirty="0" err="1"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маj</a:t>
            </a:r>
            <a:r>
              <a:rPr lang="en-GB" sz="1600" dirty="0"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2019. ISSN 978-608-244-698-1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sz="1600" i="0" dirty="0">
                <a:solidFill>
                  <a:schemeClr val="tx1"/>
                </a:solidFill>
                <a:effectLst/>
                <a:latin typeface="+mj-lt"/>
              </a:rPr>
              <a:t>Koceva, Ana (2018) </a:t>
            </a:r>
            <a:r>
              <a:rPr lang="en-GB" sz="1600" i="1" dirty="0">
                <a:solidFill>
                  <a:schemeClr val="tx1"/>
                </a:solidFill>
                <a:effectLst/>
                <a:latin typeface="+mj-l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 cross-cultural study of complaint strategies by Macedonian and American high-school students.</a:t>
            </a:r>
            <a:r>
              <a:rPr lang="en-GB" sz="1600" i="0" dirty="0">
                <a:solidFill>
                  <a:schemeClr val="tx1"/>
                </a:solidFill>
                <a:effectLst/>
                <a:latin typeface="+mj-lt"/>
              </a:rPr>
              <a:t> Third International Scientific Conference "FILKO", 3.</a:t>
            </a:r>
          </a:p>
          <a:p>
            <a:pPr algn="l">
              <a:buFont typeface="Wingdings" panose="05000000000000000000" pitchFamily="2" charset="2"/>
              <a:buChar char="Ø"/>
            </a:pPr>
            <a:r>
              <a:rPr lang="en-GB" sz="1600" i="0" dirty="0">
                <a:solidFill>
                  <a:schemeClr val="tx1"/>
                </a:solidFill>
                <a:effectLst/>
                <a:latin typeface="+mj-lt"/>
              </a:rPr>
              <a:t>Koceva, Ana (2025) </a:t>
            </a:r>
            <a:r>
              <a:rPr lang="en-GB" sz="1600" i="1" dirty="0">
                <a:solidFill>
                  <a:schemeClr val="tx1"/>
                </a:solidFill>
                <a:effectLst/>
                <a:latin typeface="+mj-l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 Cross-Cultural Comparison of Complaints.</a:t>
            </a:r>
            <a:r>
              <a:rPr lang="en-GB" sz="1600" i="0" dirty="0">
                <a:solidFill>
                  <a:schemeClr val="tx1"/>
                </a:solidFill>
                <a:effectLst/>
                <a:latin typeface="+mj-lt"/>
              </a:rPr>
              <a:t> Proceedings of the Thirty-sixth Western Conference on Linguistics, 30 (1): 8. pp. 66-75.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sz="1600" i="0" dirty="0">
                <a:solidFill>
                  <a:schemeClr val="tx1"/>
                </a:solidFill>
                <a:effectLst/>
                <a:latin typeface="+mj-lt"/>
              </a:rPr>
              <a:t>Koceva, Ana and </a:t>
            </a:r>
            <a:r>
              <a:rPr lang="en-GB" sz="1600" i="0" dirty="0" err="1">
                <a:solidFill>
                  <a:schemeClr val="tx1"/>
                </a:solidFill>
                <a:effectLst/>
                <a:latin typeface="+mj-lt"/>
              </a:rPr>
              <a:t>Kostadinova</a:t>
            </a:r>
            <a:r>
              <a:rPr lang="en-GB" sz="1600" i="0" dirty="0">
                <a:solidFill>
                  <a:schemeClr val="tx1"/>
                </a:solidFill>
                <a:effectLst/>
                <a:latin typeface="+mj-lt"/>
              </a:rPr>
              <a:t>, </a:t>
            </a:r>
            <a:r>
              <a:rPr lang="en-GB" sz="1600" i="0" dirty="0" err="1">
                <a:solidFill>
                  <a:schemeClr val="tx1"/>
                </a:solidFill>
                <a:effectLst/>
                <a:latin typeface="+mj-lt"/>
              </a:rPr>
              <a:t>Dafina</a:t>
            </a:r>
            <a:r>
              <a:rPr lang="en-GB" sz="1600" i="0" dirty="0">
                <a:solidFill>
                  <a:schemeClr val="tx1"/>
                </a:solidFill>
                <a:effectLst/>
                <a:latin typeface="+mj-lt"/>
              </a:rPr>
              <a:t> (2021) </a:t>
            </a:r>
            <a:r>
              <a:rPr lang="en-GB" sz="1600" i="1" dirty="0">
                <a:solidFill>
                  <a:schemeClr val="tx1"/>
                </a:solidFill>
                <a:effectLst/>
                <a:latin typeface="+mj-l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 comparative analysis on apology speech acts in American English and Macedonian.</a:t>
            </a:r>
            <a:r>
              <a:rPr lang="en-GB" sz="1600" i="0" dirty="0">
                <a:solidFill>
                  <a:schemeClr val="tx1"/>
                </a:solidFill>
                <a:effectLst/>
                <a:latin typeface="+mj-lt"/>
              </a:rPr>
              <a:t> International Journal for Linguistic, Literary and Cultural Research Palimpsest, 6 (12). pp. 37-45.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sz="1600" dirty="0" err="1"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Kusevska</a:t>
            </a:r>
            <a:r>
              <a:rPr lang="en-GB" sz="1600" dirty="0"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, M. (2016) Describing Speech Acts from Cross-cultural and Interlanguage Perspective. Palimpsest International Journal for Linguistic, Literary and Cultural Research, 1 (1). pp. 15-25. ISSN 2545-3998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sz="1600" i="0" dirty="0">
                <a:solidFill>
                  <a:schemeClr val="tx1"/>
                </a:solidFill>
                <a:effectLst/>
                <a:latin typeface="+mj-lt"/>
              </a:rPr>
              <a:t>Leontik, </a:t>
            </a:r>
            <a:r>
              <a:rPr lang="en-GB" sz="1600" i="0" dirty="0" err="1">
                <a:solidFill>
                  <a:schemeClr val="tx1"/>
                </a:solidFill>
                <a:effectLst/>
                <a:latin typeface="+mj-lt"/>
              </a:rPr>
              <a:t>Marija</a:t>
            </a:r>
            <a:r>
              <a:rPr lang="en-GB" sz="1600" i="0" dirty="0">
                <a:solidFill>
                  <a:schemeClr val="tx1"/>
                </a:solidFill>
                <a:effectLst/>
                <a:latin typeface="+mj-lt"/>
              </a:rPr>
              <a:t> and </a:t>
            </a:r>
            <a:r>
              <a:rPr lang="en-GB" sz="1600" i="0" dirty="0" err="1">
                <a:solidFill>
                  <a:schemeClr val="tx1"/>
                </a:solidFill>
                <a:effectLst/>
                <a:latin typeface="+mj-lt"/>
              </a:rPr>
              <a:t>Minova</a:t>
            </a:r>
            <a:r>
              <a:rPr lang="en-GB" sz="1600" i="0" dirty="0">
                <a:solidFill>
                  <a:schemeClr val="tx1"/>
                </a:solidFill>
                <a:effectLst/>
                <a:latin typeface="+mj-lt"/>
              </a:rPr>
              <a:t>, Despina (2019) </a:t>
            </a:r>
            <a:r>
              <a:rPr lang="sr-Cyrl-RS" sz="1600" i="1" dirty="0" err="1">
                <a:solidFill>
                  <a:schemeClr val="tx1"/>
                </a:solidFill>
                <a:effectLst/>
                <a:latin typeface="+mj-lt"/>
              </a:rPr>
              <a:t>Стратегии</a:t>
            </a:r>
            <a:r>
              <a:rPr lang="sr-Cyrl-RS" sz="1600" i="1" dirty="0">
                <a:solidFill>
                  <a:schemeClr val="tx1"/>
                </a:solidFill>
                <a:effectLst/>
                <a:latin typeface="+mj-lt"/>
              </a:rPr>
              <a:t> за </a:t>
            </a:r>
            <a:r>
              <a:rPr lang="sr-Cyrl-RS" sz="1600" i="1" dirty="0" err="1">
                <a:solidFill>
                  <a:schemeClr val="tx1"/>
                </a:solidFill>
                <a:effectLst/>
                <a:latin typeface="+mj-lt"/>
              </a:rPr>
              <a:t>одбивање</a:t>
            </a:r>
            <a:r>
              <a:rPr lang="sr-Cyrl-RS" sz="1600" i="1" dirty="0">
                <a:solidFill>
                  <a:schemeClr val="tx1"/>
                </a:solidFill>
                <a:effectLst/>
                <a:latin typeface="+mj-lt"/>
              </a:rPr>
              <a:t> на </a:t>
            </a:r>
            <a:r>
              <a:rPr lang="sr-Cyrl-RS" sz="1600" i="1" dirty="0" err="1">
                <a:solidFill>
                  <a:schemeClr val="tx1"/>
                </a:solidFill>
                <a:effectLst/>
                <a:latin typeface="+mj-lt"/>
              </a:rPr>
              <a:t>студентите</a:t>
            </a:r>
            <a:r>
              <a:rPr lang="sr-Cyrl-RS" sz="1600" i="1" dirty="0">
                <a:solidFill>
                  <a:schemeClr val="tx1"/>
                </a:solidFill>
                <a:effectLst/>
                <a:latin typeface="+mj-lt"/>
              </a:rPr>
              <a:t> од </a:t>
            </a:r>
            <a:r>
              <a:rPr lang="sr-Cyrl-RS" sz="1600" i="1" dirty="0" err="1">
                <a:solidFill>
                  <a:schemeClr val="tx1"/>
                </a:solidFill>
                <a:effectLst/>
                <a:latin typeface="+mj-lt"/>
              </a:rPr>
              <a:t>Групата</a:t>
            </a:r>
            <a:r>
              <a:rPr lang="sr-Cyrl-RS" sz="1600" i="1" dirty="0">
                <a:solidFill>
                  <a:schemeClr val="tx1"/>
                </a:solidFill>
                <a:effectLst/>
                <a:latin typeface="+mj-lt"/>
              </a:rPr>
              <a:t> за турски </a:t>
            </a:r>
            <a:r>
              <a:rPr lang="sr-Cyrl-RS" sz="1600" i="1" dirty="0" err="1">
                <a:solidFill>
                  <a:schemeClr val="tx1"/>
                </a:solidFill>
                <a:effectLst/>
                <a:latin typeface="+mj-lt"/>
              </a:rPr>
              <a:t>јазик</a:t>
            </a:r>
            <a:r>
              <a:rPr lang="sr-Cyrl-RS" sz="1600" i="1" dirty="0">
                <a:solidFill>
                  <a:schemeClr val="tx1"/>
                </a:solidFill>
                <a:effectLst/>
                <a:latin typeface="+mj-lt"/>
              </a:rPr>
              <a:t> и </a:t>
            </a:r>
            <a:r>
              <a:rPr lang="sr-Cyrl-RS" sz="1600" i="1" dirty="0" err="1">
                <a:solidFill>
                  <a:schemeClr val="tx1"/>
                </a:solidFill>
                <a:effectLst/>
                <a:latin typeface="+mj-lt"/>
              </a:rPr>
              <a:t>книжевност</a:t>
            </a:r>
            <a:r>
              <a:rPr lang="sr-Cyrl-RS" sz="1600" i="1" dirty="0">
                <a:solidFill>
                  <a:schemeClr val="tx1"/>
                </a:solidFill>
                <a:effectLst/>
                <a:latin typeface="+mj-lt"/>
              </a:rPr>
              <a:t> при </a:t>
            </a:r>
            <a:r>
              <a:rPr lang="sr-Cyrl-RS" sz="1600" i="1" dirty="0" err="1">
                <a:solidFill>
                  <a:schemeClr val="tx1"/>
                </a:solidFill>
                <a:effectLst/>
                <a:latin typeface="+mj-lt"/>
              </a:rPr>
              <a:t>Универзитетот</a:t>
            </a:r>
            <a:r>
              <a:rPr lang="sr-Cyrl-RS" sz="1600" i="1" dirty="0">
                <a:solidFill>
                  <a:schemeClr val="tx1"/>
                </a:solidFill>
                <a:effectLst/>
                <a:latin typeface="+mj-lt"/>
              </a:rPr>
              <a:t> „Гоце Делчев“.</a:t>
            </a:r>
            <a:r>
              <a:rPr lang="sr-Cyrl-RS" sz="1600" i="0" dirty="0">
                <a:solidFill>
                  <a:schemeClr val="tx1"/>
                </a:solidFill>
                <a:effectLst/>
                <a:latin typeface="+mj-lt"/>
              </a:rPr>
              <a:t> </a:t>
            </a:r>
            <a:r>
              <a:rPr lang="sr-Cyrl-RS" sz="1600" i="0" dirty="0" err="1">
                <a:solidFill>
                  <a:schemeClr val="tx1"/>
                </a:solidFill>
                <a:effectLst/>
                <a:latin typeface="+mj-lt"/>
              </a:rPr>
              <a:t>Годишен</a:t>
            </a:r>
            <a:r>
              <a:rPr lang="sr-Cyrl-RS" sz="1600" i="0" dirty="0">
                <a:solidFill>
                  <a:schemeClr val="tx1"/>
                </a:solidFill>
                <a:effectLst/>
                <a:latin typeface="+mj-lt"/>
              </a:rPr>
              <a:t> зборник 2019 - Филолошки факултет, Универзитет „Гоце Делчев“ - Штип, 10 (13). </a:t>
            </a:r>
            <a:r>
              <a:rPr lang="en-GB" sz="1600" i="0" dirty="0">
                <a:solidFill>
                  <a:schemeClr val="tx1"/>
                </a:solidFill>
                <a:effectLst/>
                <a:latin typeface="+mj-lt"/>
              </a:rPr>
              <a:t>pp. 39-49. ISSN 1857-7059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sz="1600" dirty="0"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Searle, J. R. (1969). Speech Acts: An Essay in the Philosophy of Language. Cambridge University Press.</a:t>
            </a:r>
          </a:p>
          <a:p>
            <a:pPr>
              <a:buFont typeface="Wingdings" panose="05000000000000000000" pitchFamily="2" charset="2"/>
              <a:buChar char="Ø"/>
            </a:pPr>
            <a:endParaRPr lang="en-GB" sz="1600" dirty="0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845406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raining presentation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Calibri">
      <a:maj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16224345_TF03460604.potx" id="{E7E0BD26-C043-45F4-96D1-04BA13E49D2C}" vid="{5436AFAD-CFB0-446B-836C-C3E13AB52501}"/>
    </a:ext>
  </a:extLst>
</a:theme>
</file>

<file path=ppt/theme/theme2.xml><?xml version="1.0" encoding="utf-8"?>
<a:theme xmlns:a="http://schemas.openxmlformats.org/drawingml/2006/main" name="Office Theme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Calibri">
      <a:maj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Calibri">
      <a:maj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Training presentation</Template>
  <TotalTime>0</TotalTime>
  <Words>1854</Words>
  <Application>Microsoft Office PowerPoint</Application>
  <PresentationFormat>Widescreen</PresentationFormat>
  <Paragraphs>236</Paragraphs>
  <Slides>19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Calibri</vt:lpstr>
      <vt:lpstr>Georgia</vt:lpstr>
      <vt:lpstr>Wingdings</vt:lpstr>
      <vt:lpstr>Wingdings 2</vt:lpstr>
      <vt:lpstr>Training presentation</vt:lpstr>
      <vt:lpstr>Speech Acts in Intercultural Context</vt:lpstr>
      <vt:lpstr>Speech Act Theory: Basic Idea</vt:lpstr>
      <vt:lpstr>Speech Acts and their communicative function</vt:lpstr>
      <vt:lpstr>Structure of Speech Acts</vt:lpstr>
      <vt:lpstr>Complex Speech Acts</vt:lpstr>
      <vt:lpstr>PowerPoint Presentation</vt:lpstr>
      <vt:lpstr>Cultural Differences in Speech Act Realization</vt:lpstr>
      <vt:lpstr>Most common speech acts</vt:lpstr>
      <vt:lpstr>Pragmatic Failure in Intercultural Communication</vt:lpstr>
      <vt:lpstr>Request</vt:lpstr>
      <vt:lpstr>Compliment</vt:lpstr>
      <vt:lpstr>Refusal</vt:lpstr>
      <vt:lpstr>Apology</vt:lpstr>
      <vt:lpstr>Complaint</vt:lpstr>
      <vt:lpstr>Warning</vt:lpstr>
      <vt:lpstr>Suggestion</vt:lpstr>
      <vt:lpstr>Importance of Speech Acts in Intercultural Communication</vt:lpstr>
      <vt:lpstr>Conclusion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Speech Acts in Intercultural Context</dc:title>
  <dc:creator>Ana Koceva</dc:creator>
  <cp:lastModifiedBy>Ana Koceva</cp:lastModifiedBy>
  <cp:revision>16</cp:revision>
  <dcterms:created xsi:type="dcterms:W3CDTF">2026-03-14T16:56:23Z</dcterms:created>
  <dcterms:modified xsi:type="dcterms:W3CDTF">2026-03-14T18:48:49Z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</Properties>
</file>