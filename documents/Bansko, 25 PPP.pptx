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6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3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6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2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1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4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3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7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5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94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54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2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7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6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74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40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1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7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erlag-gespraechsforschung.de/2004/kompetenz/" TargetMode="External"/><Relationship Id="rId2" Type="http://schemas.openxmlformats.org/officeDocument/2006/relationships/hyperlink" Target="http://www.uni-koeln.de/ewfak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515/pr-2023-0082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6/annurev-linguistics-031120-121256" TargetMode="External"/><Relationship Id="rId2" Type="http://schemas.openxmlformats.org/officeDocument/2006/relationships/hyperlink" Target="https://doi.org/10.1016/j.pragma.2020.07.01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Pragmatic-Discursive Competence in Foreign Language Teaching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888676" cy="3530600"/>
          </a:xfrm>
        </p:spPr>
        <p:txBody>
          <a:bodyPr/>
          <a:lstStyle/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r>
              <a:rPr dirty="0"/>
              <a:t>Biljana Ivanovska &amp; </a:t>
            </a:r>
            <a:r>
              <a:rPr dirty="0" err="1"/>
              <a:t>Gëzim</a:t>
            </a:r>
            <a:r>
              <a:rPr dirty="0"/>
              <a:t> </a:t>
            </a:r>
            <a:r>
              <a:rPr dirty="0" err="1"/>
              <a:t>Xhaferri</a:t>
            </a:r>
            <a:endParaRPr dirty="0"/>
          </a:p>
          <a:p>
            <a:pPr algn="r"/>
            <a:r>
              <a:rPr dirty="0" err="1"/>
              <a:t>Goce</a:t>
            </a:r>
            <a:r>
              <a:rPr dirty="0"/>
              <a:t> </a:t>
            </a:r>
            <a:r>
              <a:rPr dirty="0" err="1"/>
              <a:t>Delčev</a:t>
            </a:r>
            <a:r>
              <a:rPr dirty="0"/>
              <a:t> University</a:t>
            </a:r>
            <a:r>
              <a:rPr lang="en-US" dirty="0"/>
              <a:t>,</a:t>
            </a:r>
            <a:r>
              <a:rPr dirty="0"/>
              <a:t> </a:t>
            </a:r>
            <a:r>
              <a:rPr dirty="0" err="1"/>
              <a:t>Štip</a:t>
            </a:r>
            <a:endParaRPr dirty="0"/>
          </a:p>
          <a:p>
            <a:pPr algn="r"/>
            <a:r>
              <a:rPr dirty="0"/>
              <a:t>South East European University</a:t>
            </a:r>
            <a:r>
              <a:rPr lang="en-US" dirty="0"/>
              <a:t>,</a:t>
            </a:r>
            <a:r>
              <a:rPr dirty="0"/>
              <a:t> Tetovo</a:t>
            </a:r>
            <a:endParaRPr lang="en-US" dirty="0"/>
          </a:p>
          <a:p>
            <a:pPr algn="r"/>
            <a:r>
              <a:rPr lang="en-US" dirty="0"/>
              <a:t>12-14 December, </a:t>
            </a:r>
            <a:r>
              <a:rPr lang="en-US" dirty="0" err="1"/>
              <a:t>Bansko</a:t>
            </a:r>
            <a:r>
              <a:rPr lang="en-US" dirty="0"/>
              <a:t>, Bulgaria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 Pragmatic and discursive competence gained importance after the communicative turn.</a:t>
            </a:r>
          </a:p>
          <a:p>
            <a:pPr algn="just"/>
            <a:r>
              <a:rPr dirty="0"/>
              <a:t> Shift from grammar-only to real communication.</a:t>
            </a:r>
          </a:p>
          <a:p>
            <a:pPr algn="just"/>
            <a:r>
              <a:rPr dirty="0"/>
              <a:t> Foundations: </a:t>
            </a:r>
            <a:r>
              <a:rPr dirty="0" err="1"/>
              <a:t>Hymes</a:t>
            </a:r>
            <a:r>
              <a:rPr lang="en-US" dirty="0"/>
              <a:t> (</a:t>
            </a:r>
            <a:r>
              <a:rPr lang="mk-M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1966, 1972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dirty="0"/>
              <a:t>, Habermas</a:t>
            </a:r>
            <a:r>
              <a:rPr lang="en-US" dirty="0"/>
              <a:t> (1971)</a:t>
            </a:r>
            <a:r>
              <a:rPr dirty="0"/>
              <a:t>, Wilkins</a:t>
            </a:r>
            <a:r>
              <a:rPr lang="en-US" dirty="0"/>
              <a:t> (1972)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Early models simplified communication.</a:t>
            </a:r>
          </a:p>
          <a:p>
            <a:r>
              <a:rPr dirty="0"/>
              <a:t>Pragmatics and sociolinguistics were still emerging.</a:t>
            </a:r>
          </a:p>
          <a:p>
            <a:r>
              <a:rPr dirty="0"/>
              <a:t>Limited integration in early language teaching.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Grammar vs. Pragmatics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Grammar is part of interaction, not only rules.</a:t>
            </a:r>
          </a:p>
          <a:p>
            <a:r>
              <a:rPr dirty="0"/>
              <a:t> Includes locutionary, illocutionary, perlocutionary acts.</a:t>
            </a:r>
          </a:p>
          <a:p>
            <a:r>
              <a:rPr dirty="0"/>
              <a:t> Accuracy ≠ successful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Examples (</a:t>
            </a:r>
            <a:r>
              <a:rPr dirty="0" err="1"/>
              <a:t>Helbig</a:t>
            </a:r>
            <a:r>
              <a:rPr lang="en-US" dirty="0"/>
              <a:t>, 1992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920207" cy="35306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 Grammatically correct answers may be pragmatically wrong.</a:t>
            </a:r>
          </a:p>
          <a:p>
            <a:r>
              <a:rPr dirty="0"/>
              <a:t> 'Can you tell me the time?' → 'Yes, I can' = inappropriate.</a:t>
            </a:r>
          </a:p>
          <a:p>
            <a:r>
              <a:rPr dirty="0"/>
              <a:t> Shows need for pragmatic awareness.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 A: Можеш ли да ми кажеш колку е часот? / 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Kannst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Du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mir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sagen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,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wie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spät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es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ist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?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B: *Да, можам да ти кажам.</a:t>
            </a:r>
            <a:r>
              <a:rPr lang="mk-MK" sz="1800" dirty="0">
                <a:effectLst/>
                <a:latin typeface="Times-Roman"/>
                <a:ea typeface="Calibri" panose="020F0502020204030204" pitchFamily="34" charset="0"/>
                <a:cs typeface="Times-Roman"/>
              </a:rPr>
              <a:t> </a:t>
            </a:r>
            <a:r>
              <a:rPr lang="mk-M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-Roman"/>
              </a:rPr>
              <a:t>/</a:t>
            </a:r>
            <a:r>
              <a:rPr lang="mk-MK" sz="1800" dirty="0">
                <a:effectLst/>
                <a:latin typeface="Times-Roman"/>
                <a:ea typeface="Calibri" panose="020F0502020204030204" pitchFamily="34" charset="0"/>
                <a:cs typeface="Times-Roman"/>
              </a:rPr>
              <a:t> *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Ja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,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ich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kann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es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dir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sagen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 A: Можеш ли да го отвориш прозорецот?</a:t>
            </a:r>
            <a:r>
              <a:rPr lang="mk-MK" sz="1800" dirty="0">
                <a:effectLst/>
                <a:latin typeface="Times-Roman"/>
                <a:ea typeface="Calibri" panose="020F0502020204030204" pitchFamily="34" charset="0"/>
                <a:cs typeface="Times-Roman"/>
              </a:rPr>
              <a:t> </a:t>
            </a:r>
            <a:r>
              <a:rPr lang="mk-M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-Roman"/>
              </a:rPr>
              <a:t>/</a:t>
            </a:r>
            <a:r>
              <a:rPr lang="mk-MK" sz="1800" dirty="0">
                <a:effectLst/>
                <a:latin typeface="Times-Roman"/>
                <a:ea typeface="Calibri" panose="020F0502020204030204" pitchFamily="34" charset="0"/>
                <a:cs typeface="Times-Roman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Kannst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du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das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Fenster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öffnen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?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B: *Да, можам да го отворам прозорецот.</a:t>
            </a:r>
            <a:r>
              <a:rPr lang="mk-MK" sz="1800" dirty="0">
                <a:effectLst/>
                <a:latin typeface="Times-Roman"/>
                <a:ea typeface="Calibri" panose="020F0502020204030204" pitchFamily="34" charset="0"/>
                <a:cs typeface="Times-Roman"/>
              </a:rPr>
              <a:t> </a:t>
            </a:r>
            <a:r>
              <a:rPr lang="mk-M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-Roman"/>
              </a:rPr>
              <a:t>/ </a:t>
            </a:r>
            <a:r>
              <a:rPr lang="mk-MK" sz="1800" dirty="0">
                <a:effectLst/>
                <a:latin typeface="Times-Roman"/>
                <a:ea typeface="Calibri" panose="020F0502020204030204" pitchFamily="34" charset="0"/>
                <a:cs typeface="Times-Roman"/>
              </a:rPr>
              <a:t>*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Ja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,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ich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kann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das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Fenster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öffnen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Discourse Competence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Understanding language beyond sentences.</a:t>
            </a:r>
          </a:p>
          <a:p>
            <a:pPr marL="0" indent="0">
              <a:buNone/>
            </a:pPr>
            <a:r>
              <a:rPr dirty="0"/>
              <a:t>• Turn-taking, coherence, structure.</a:t>
            </a:r>
          </a:p>
          <a:p>
            <a:pPr marL="0" indent="0">
              <a:buNone/>
            </a:pPr>
            <a:r>
              <a:rPr dirty="0"/>
              <a:t>• Recognizing phases of conversation.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Pragmatic-Discursive Competence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Combines pragmatic + discourse skills.</a:t>
            </a:r>
          </a:p>
          <a:p>
            <a:r>
              <a:rPr dirty="0"/>
              <a:t>Interpreting intentions and producing context-appropriate language.</a:t>
            </a:r>
          </a:p>
          <a:p>
            <a:r>
              <a:rPr dirty="0"/>
              <a:t>Based on Becker-</a:t>
            </a:r>
            <a:r>
              <a:rPr dirty="0" err="1"/>
              <a:t>Mrotzek</a:t>
            </a:r>
            <a:r>
              <a:rPr lang="en-US" dirty="0"/>
              <a:t> </a:t>
            </a:r>
            <a:r>
              <a:rPr dirty="0"/>
              <a:t>&amp; </a:t>
            </a:r>
            <a:r>
              <a:rPr dirty="0" err="1"/>
              <a:t>Brünner</a:t>
            </a:r>
            <a:r>
              <a:rPr dirty="0"/>
              <a:t> </a:t>
            </a:r>
            <a:r>
              <a:rPr lang="en-US" dirty="0"/>
              <a:t>(2004) </a:t>
            </a:r>
            <a:r>
              <a:rPr dirty="0"/>
              <a:t>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CEB7BE04-51CA-4309-B08D-92538DAE1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275" y="388884"/>
            <a:ext cx="8293822" cy="6138040"/>
          </a:xfrm>
        </p:spPr>
      </p:pic>
    </p:spTree>
    <p:extLst>
      <p:ext uri="{BB962C8B-B14F-4D97-AF65-F5344CB8AC3E}">
        <p14:creationId xmlns:p14="http://schemas.microsoft.com/office/powerpoint/2010/main" val="22006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Cannot be acquired spontaneously.</a:t>
            </a:r>
          </a:p>
          <a:p>
            <a:r>
              <a:rPr dirty="0"/>
              <a:t>Use authentic materials, role plays.</a:t>
            </a:r>
          </a:p>
          <a:p>
            <a:r>
              <a:rPr dirty="0"/>
              <a:t>Analyze real conversations.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for Learners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Prevents fossilization.</a:t>
            </a:r>
          </a:p>
          <a:p>
            <a:r>
              <a:rPr dirty="0"/>
              <a:t>Improves communicative and intercultural skills.</a:t>
            </a:r>
          </a:p>
          <a:p>
            <a:r>
              <a:rPr dirty="0"/>
              <a:t>Essential for philology students.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Grammar alone is not enough.</a:t>
            </a:r>
          </a:p>
          <a:p>
            <a:r>
              <a:rPr dirty="0"/>
              <a:t>Pragmatic-discursive competence is essential.</a:t>
            </a:r>
          </a:p>
          <a:p>
            <a:r>
              <a:rPr dirty="0"/>
              <a:t>Balance explicit knowledge + practice.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B5483-AAC5-498C-BD1E-723F6CBCF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59" y="136633"/>
            <a:ext cx="8492358" cy="6600497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ustin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L. (1962)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Words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Cambridge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ecker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rotzek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(2007)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Gesprächskompetenz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vermitteln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ermitteln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Gute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Aufgaben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Bereich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Sprechen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Zuhören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22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http://www.uni-koeln.de/ewfak/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Deutsch/materialien/mbm/BeckerMrotzek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Gespraechskompetenz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_vermitteln_und_ermitteln_082007.pdf (13.7.20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25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ecker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rotzek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(2009)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Mündliche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Kommunikationskompetenz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B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ecker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rotzek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ichel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.):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Mündliche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Kommunikation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Gesprächsdidaktik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Baltmannsweiler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66-83.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ecker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rotzek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B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rünner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eds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 (2004)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Vermittlung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Gesprächskompetenz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22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http://www.verlag-gespraechsforschung.de/2004/kompetenz/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kompetenz.pdf (13.7.2011).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erdychowska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(2004)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erwarten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Grammatikvermittlung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Germanistikstudium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ngel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lrich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.):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Sprachwissen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Hochschulgermanistik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Interkulturelle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Kommunikation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Bonn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9-19.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Fatmawati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F. &amp;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Ningsih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R. (2024).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Expressive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Speech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Approach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Languages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Teaching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12(4), 1721–1738. https://doi.org/10.33394/jollt.v12i4.12620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abermas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(1971)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Vorbereitende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Bemerkungen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zu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einer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Theorie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kommunikativen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Kompetenz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abermas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ürgen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L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uhmann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iklas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eds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.):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Theorie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Gesellschaft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Sozialtechnologie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leitet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Systemforschung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Frankfurt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(M.), 101-141.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/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Haugh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M. (2024). (</a:t>
            </a:r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(</a:t>
            </a:r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perspective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</a:t>
            </a:r>
            <a:r>
              <a:rPr lang="mk-MK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mk-MK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mk-MK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(1), 201-226. </a:t>
            </a:r>
            <a:r>
              <a:rPr lang="mk-MK" sz="22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https://doi.org/10.1515/pr-2023-0082</a:t>
            </a:r>
            <a:endParaRPr lang="mk-MK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elbig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(1992)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Wieviel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Grammatik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braucht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Mensch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Deutsch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Fremdsprache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:150-155.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e-DE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essky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(1994)</a:t>
            </a:r>
            <a:r>
              <a:rPr lang="de-DE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Sprachvergleich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Hilfe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beim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Grammatiklernen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Deutsch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2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Fremdsprache</a:t>
            </a:r>
            <a:r>
              <a:rPr lang="mk-MK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1:</a:t>
            </a:r>
            <a:r>
              <a:rPr lang="mk-MK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20-25.</a:t>
            </a:r>
            <a:endParaRPr lang="mk-M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mk-MK" sz="2200" dirty="0"/>
          </a:p>
        </p:txBody>
      </p:sp>
    </p:spTree>
    <p:extLst>
      <p:ext uri="{BB962C8B-B14F-4D97-AF65-F5344CB8AC3E}">
        <p14:creationId xmlns:p14="http://schemas.microsoft.com/office/powerpoint/2010/main" val="353431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CAC1-0878-4389-BA37-04CD92C00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6124" y="252248"/>
            <a:ext cx="9270125" cy="6285186"/>
          </a:xfrm>
        </p:spPr>
        <p:txBody>
          <a:bodyPr>
            <a:normAutofit fontScale="25000" lnSpcReduction="20000"/>
          </a:bodyPr>
          <a:lstStyle/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endParaRPr lang="en-US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House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(1983)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talk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Talking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Eine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Untersuchung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Lernerverhaltens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zwei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verschiedenen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Diskurstypen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eid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anfred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.):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Yorker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Werkstattgespräch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1982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München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158-179.</a:t>
            </a: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ouse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(1996)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Developing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fluency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English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foreign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routines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metapragmatic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awareness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Studies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Second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Acquisition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18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:225-252.</a:t>
            </a: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ouse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(1997)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Kommunikative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Bewusstheit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Fremdsprachenlernen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Fremdsprachen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Lehren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Lernen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FLuL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26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:68-87.</a:t>
            </a: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ouse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(2000)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Interaktion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Fremdsprachenunterricht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B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ausch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K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arl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ichard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C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hrist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H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erbert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K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önigs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rank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G. / K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rumm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H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-J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ürgen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.):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Interaktion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Kontext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Lehrens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Lernens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fremder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Sprachen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Tübingen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111-118.</a:t>
            </a: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ouse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K</a:t>
            </a:r>
            <a:r>
              <a:rPr lang="de-DE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asper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(1981)</a:t>
            </a:r>
            <a:r>
              <a:rPr lang="de-DE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Zur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Kognition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Kommunikationskursen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neueren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Sprachen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:42-55.</a:t>
            </a: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ymes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(1966)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communicative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competence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Paper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originally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Planning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Conference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among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Disadvantaged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Children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Yeshiva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ymes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4800" dirty="0">
                <a:effectLst/>
                <a:latin typeface="Times New Roman" panose="02020603050405020304" pitchFamily="18" charset="0"/>
                <a:ea typeface="TimesNewRoman"/>
                <a:cs typeface="Times New Roman" panose="02020603050405020304" pitchFamily="18" charset="0"/>
              </a:rPr>
              <a:t> 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(1972)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communicative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competence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ride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ohn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ernhard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H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olmes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anet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.):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Sociolinguistics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Selected</a:t>
            </a:r>
            <a:r>
              <a:rPr lang="mk-MK" sz="4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Readings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Harmondsworth</a:t>
            </a:r>
            <a:r>
              <a:rPr lang="mk-MK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269-293.</a:t>
            </a: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/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Jucker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</a:t>
            </a:r>
            <a:r>
              <a:rPr lang="en-US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2020</a:t>
            </a:r>
            <a:r>
              <a:rPr lang="en-US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history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English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Middle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Ages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present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day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Cambridge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Cambridge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University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Press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4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Kádár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D.Z., &amp; </a:t>
            </a: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House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J. (2021).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Cross-Cultural</a:t>
            </a:r>
            <a:r>
              <a:rPr lang="mk-MK" sz="4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Cambridge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4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mk-MK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218829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D0436-3021-49BC-86F3-DC9221B50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489200"/>
            <a:ext cx="7815104" cy="3530600"/>
          </a:xfrm>
        </p:spPr>
        <p:txBody>
          <a:bodyPr>
            <a:normAutofit fontScale="70000" lnSpcReduction="20000"/>
          </a:bodyPr>
          <a:lstStyle/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Karafoti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2021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Negotiating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preferred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requests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offers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preferred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obviously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 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mk-MK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173. 134–147. </a:t>
            </a:r>
            <a:r>
              <a:rPr lang="mk-MK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https://doi.org/10.1016/j.pragma.2020.07.010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/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Kiesling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Stance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stancetaking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Annual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Linguistics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8. 409–426. </a:t>
            </a:r>
            <a:r>
              <a:rPr lang="mk-MK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https://doi.org/10.1146/annurev-linguistics-031120-121256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üger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H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 (2001)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Höflichkeitsstile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Frankfurt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(M.).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eibauer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(1999)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Pragmatik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Eine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Einführung</a:t>
            </a:r>
            <a:r>
              <a:rPr lang="mk-MK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.Tübingen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chmenck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(2007)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Kommunikation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ist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alles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Oder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Wider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die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Trivialisierung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Kommunikativen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kommunikativen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Fremdsprachenunterricht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Deutsch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Fremdsprache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3: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131-139.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Aft>
                <a:spcPts val="800"/>
              </a:spcAft>
            </a:pP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hurmair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NewRoman"/>
                <a:cs typeface="Times New Roman" panose="02020603050405020304" pitchFamily="18" charset="0"/>
              </a:rPr>
              <a:t> 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(2004)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Übungsgrammatiken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Kontext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textgrammatischer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Ansätze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K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ühn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eter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mk-MK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.):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Übungsgrammatiken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Deutsch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Fremdsprache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Linguistische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Analysen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didaktische</a:t>
            </a:r>
            <a:r>
              <a:rPr lang="mk-MK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Konzepte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Regensburg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79-102.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>
              <a:lnSpc>
                <a:spcPct val="107000"/>
              </a:lnSpc>
              <a:spcAft>
                <a:spcPts val="800"/>
              </a:spcAft>
            </a:pP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Wilkins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A. (1972)</a:t>
            </a:r>
            <a:r>
              <a:rPr lang="de-D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uistics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in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Language</a:t>
            </a:r>
            <a:r>
              <a:rPr lang="mk-MK" sz="1800" i="1" dirty="0">
                <a:effectLst/>
                <a:latin typeface="Times-Italic"/>
                <a:ea typeface="Calibri" panose="020F0502020204030204" pitchFamily="34" charset="0"/>
                <a:cs typeface="Times-Italic"/>
              </a:rPr>
              <a:t> </a:t>
            </a:r>
            <a:r>
              <a:rPr lang="mk-MK" sz="1800" i="1" dirty="0" err="1">
                <a:effectLst/>
                <a:latin typeface="Times-Italic"/>
                <a:ea typeface="Calibri" panose="020F0502020204030204" pitchFamily="34" charset="0"/>
                <a:cs typeface="Times-Italic"/>
              </a:rPr>
              <a:t>Teaching</a:t>
            </a:r>
            <a:r>
              <a:rPr lang="mk-MK" sz="1800" dirty="0">
                <a:effectLst/>
                <a:latin typeface="Times-Roman"/>
                <a:ea typeface="Calibri" panose="020F0502020204030204" pitchFamily="34" charset="0"/>
                <a:cs typeface="Times-Roman"/>
              </a:rPr>
              <a:t>. </a:t>
            </a:r>
            <a:r>
              <a:rPr lang="mk-MK" sz="1800" dirty="0" err="1">
                <a:effectLst/>
                <a:latin typeface="Times-Roman"/>
                <a:ea typeface="Calibri" panose="020F0502020204030204" pitchFamily="34" charset="0"/>
                <a:cs typeface="Times-Roman"/>
              </a:rPr>
              <a:t>London</a:t>
            </a:r>
            <a:r>
              <a:rPr lang="mk-MK" sz="1800" dirty="0">
                <a:effectLst/>
                <a:latin typeface="Times-Roman"/>
                <a:ea typeface="Calibri" panose="020F0502020204030204" pitchFamily="34" charset="0"/>
                <a:cs typeface="Times-Roman"/>
              </a:rPr>
              <a:t>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1797524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1239</Words>
  <Application>Microsoft Office PowerPoint</Application>
  <PresentationFormat>On-screen Show (4:3)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Times-Italic</vt:lpstr>
      <vt:lpstr>Times-Roman</vt:lpstr>
      <vt:lpstr>Wingdings 3</vt:lpstr>
      <vt:lpstr>Ion Boardroom</vt:lpstr>
      <vt:lpstr>Pragmatic-Discursive Competence in Foreign Language Teaching</vt:lpstr>
      <vt:lpstr>Introduction</vt:lpstr>
      <vt:lpstr>Background and Challenges</vt:lpstr>
      <vt:lpstr>Grammar vs. Pragmatics</vt:lpstr>
      <vt:lpstr>Examples (Helbig, 1992)</vt:lpstr>
      <vt:lpstr>Discourse Competence</vt:lpstr>
      <vt:lpstr>Pragmatic-Discursive Competence</vt:lpstr>
      <vt:lpstr>PowerPoint Presentation</vt:lpstr>
      <vt:lpstr>Teaching Implications</vt:lpstr>
      <vt:lpstr>Importance for Learners</vt:lpstr>
      <vt:lpstr>Conclusion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Pragmatic-Discursive Competence in Foreign Language Teaching</dc:title>
  <dc:subject/>
  <dc:creator>Biljana Ivanovska</dc:creator>
  <cp:keywords/>
  <dc:description>generated using python-pptx</dc:description>
  <cp:lastModifiedBy>ppppp</cp:lastModifiedBy>
  <cp:revision>11</cp:revision>
  <dcterms:created xsi:type="dcterms:W3CDTF">2013-01-27T09:14:16Z</dcterms:created>
  <dcterms:modified xsi:type="dcterms:W3CDTF">2026-03-10T13:29:03Z</dcterms:modified>
  <cp:category/>
</cp:coreProperties>
</file>