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8" r:id="rId10"/>
    <p:sldId id="279" r:id="rId11"/>
    <p:sldId id="271" r:id="rId12"/>
    <p:sldId id="265" r:id="rId13"/>
    <p:sldId id="272" r:id="rId14"/>
    <p:sldId id="266" r:id="rId15"/>
    <p:sldId id="273" r:id="rId16"/>
    <p:sldId id="270" r:id="rId17"/>
    <p:sldId id="274" r:id="rId18"/>
    <p:sldId id="275" r:id="rId19"/>
    <p:sldId id="277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22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5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3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6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27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84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64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5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6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3929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43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2643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40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20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17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pragma.2020.07.010" TargetMode="External"/><Relationship Id="rId2" Type="http://schemas.openxmlformats.org/officeDocument/2006/relationships/hyperlink" Target="https://doi.org/10.1515/pr-2023-0082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6/annurev-linguistics-031120-121256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599"/>
            <a:ext cx="8387256" cy="6248401"/>
          </a:xfrm>
        </p:spPr>
        <p:txBody>
          <a:bodyPr>
            <a:noAutofit/>
          </a:bodyPr>
          <a:lstStyle/>
          <a:p>
            <a:pPr algn="ctr"/>
            <a:br>
              <a:rPr lang="en-US" sz="2000" dirty="0"/>
            </a:br>
            <a:r>
              <a:rPr lang="de-DE" sz="2800" b="1" dirty="0">
                <a:solidFill>
                  <a:srgbClr val="1F1F02"/>
                </a:solidFill>
                <a:latin typeface="Liberation Sans"/>
              </a:rPr>
              <a:t>Interkulturelle Pragmatik und Höflichkeit in der akademischen Kommunikation: Eine Fallstudie zur Interaktion von Studierenden im mehrsprachigen Hochschulkontext</a:t>
            </a:r>
            <a:endParaRPr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146" y="2995448"/>
            <a:ext cx="8781194" cy="3741781"/>
          </a:xfrm>
        </p:spPr>
        <p:txBody>
          <a:bodyPr>
            <a:norm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en-US" sz="3200" b="1" i="1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49. </a:t>
            </a:r>
            <a:r>
              <a:rPr lang="en-US" sz="3200" b="1" i="1" dirty="0" err="1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Öster­rei­chi­sche</a:t>
            </a:r>
            <a:r>
              <a:rPr lang="en-US" sz="3200" b="1" i="1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sz="3200" b="1" i="1" dirty="0" err="1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Lin­guis­tik­ta­gung</a:t>
            </a:r>
            <a:r>
              <a:rPr lang="en-US" sz="3200" b="1" i="1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en-US" sz="3200" b="1" i="1" dirty="0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2025</a:t>
            </a:r>
            <a:r>
              <a:rPr lang="en-US" sz="3200" b="1" i="1">
                <a:solidFill>
                  <a:srgbClr val="555555"/>
                </a:solidFill>
                <a:effectLst/>
                <a:latin typeface="Roboto" panose="02000000000000000000" pitchFamily="2" charset="0"/>
              </a:rPr>
              <a:t>,  </a:t>
            </a:r>
            <a:r>
              <a:rPr lang="en-US" sz="3200" b="1" i="1">
                <a:solidFill>
                  <a:srgbClr val="555555"/>
                </a:solidFill>
                <a:latin typeface="Roboto" panose="02000000000000000000" pitchFamily="2" charset="0"/>
              </a:rPr>
              <a:t>Klagenfurt</a:t>
            </a:r>
            <a:endParaRPr lang="en-US" sz="3200" b="1" i="1" dirty="0">
              <a:solidFill>
                <a:srgbClr val="555555"/>
              </a:solidFill>
              <a:effectLst/>
              <a:latin typeface="Roboto" panose="02000000000000000000" pitchFamily="2" charset="0"/>
            </a:endParaRPr>
          </a:p>
          <a:p>
            <a:pPr marL="0" lvl="1" indent="0" algn="r">
              <a:spcBef>
                <a:spcPts val="0"/>
              </a:spcBef>
              <a:buNone/>
            </a:pPr>
            <a:endParaRPr lang="mk-MK" dirty="0"/>
          </a:p>
          <a:p>
            <a:pPr marL="0" lvl="1" indent="0" algn="r">
              <a:spcBef>
                <a:spcPts val="0"/>
              </a:spcBef>
              <a:buNone/>
            </a:pPr>
            <a:endParaRPr lang="mk-MK" dirty="0"/>
          </a:p>
          <a:p>
            <a:pPr marL="0" lvl="1" indent="0" algn="r">
              <a:spcBef>
                <a:spcPts val="0"/>
              </a:spcBef>
              <a:buNone/>
            </a:pPr>
            <a:endParaRPr lang="de-DE" dirty="0"/>
          </a:p>
          <a:p>
            <a:pPr lvl="7" algn="r"/>
            <a:endParaRPr lang="en-US" sz="1600" dirty="0"/>
          </a:p>
          <a:p>
            <a:pPr lvl="7" algn="r"/>
            <a:r>
              <a:rPr lang="en-US" sz="1600" dirty="0" err="1"/>
              <a:t>Gzim</a:t>
            </a:r>
            <a:r>
              <a:rPr lang="en-US" sz="1600" dirty="0"/>
              <a:t> </a:t>
            </a:r>
            <a:r>
              <a:rPr lang="en-US" sz="1600" dirty="0" err="1"/>
              <a:t>Xhaferri</a:t>
            </a:r>
            <a:r>
              <a:rPr lang="en-US" sz="1600" dirty="0"/>
              <a:t> &amp; Biljana Ivanovska </a:t>
            </a:r>
            <a:endParaRPr lang="mk-MK" sz="1600" dirty="0"/>
          </a:p>
          <a:p>
            <a:pPr lvl="7" algn="r"/>
            <a:r>
              <a:rPr lang="en-US" sz="1600" dirty="0"/>
              <a:t>R. </a:t>
            </a:r>
            <a:r>
              <a:rPr lang="en-US" sz="1600" dirty="0" err="1"/>
              <a:t>Nordmazedonien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9012"/>
            <a:ext cx="6347713" cy="866410"/>
          </a:xfrm>
        </p:spPr>
        <p:txBody>
          <a:bodyPr>
            <a:normAutofit/>
          </a:bodyPr>
          <a:lstStyle/>
          <a:p>
            <a:r>
              <a:rPr dirty="0" err="1"/>
              <a:t>Th</a:t>
            </a:r>
            <a:r>
              <a:rPr lang="en-US" dirty="0" err="1"/>
              <a:t>eoretische</a:t>
            </a:r>
            <a:r>
              <a:rPr lang="en-US" dirty="0"/>
              <a:t> </a:t>
            </a:r>
            <a:r>
              <a:rPr lang="en-US" dirty="0" err="1"/>
              <a:t>Auffassungen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99072"/>
            <a:ext cx="9144000" cy="5589917"/>
          </a:xfrm>
        </p:spPr>
        <p:txBody>
          <a:bodyPr>
            <a:normAutofit fontScale="92500" lnSpcReduction="10000"/>
          </a:bodyPr>
          <a:lstStyle/>
          <a:p>
            <a:r>
              <a:rPr lang="de-DE" sz="2100" b="1" dirty="0"/>
              <a:t>Höflichkeitstheorie (Brown &amp; Levinson, 1987), zentrale Idee:</a:t>
            </a:r>
          </a:p>
          <a:p>
            <a:pPr marL="0" indent="0" algn="just">
              <a:buNone/>
            </a:pPr>
            <a:br>
              <a:rPr lang="de-DE" sz="2100" dirty="0"/>
            </a:br>
            <a:r>
              <a:rPr lang="de-DE" sz="2100" dirty="0"/>
              <a:t>Höflichkeit dient der Bewältigung von </a:t>
            </a:r>
            <a:r>
              <a:rPr lang="de-DE" sz="2100" i="1" dirty="0"/>
              <a:t>Face-</a:t>
            </a:r>
            <a:r>
              <a:rPr lang="de-DE" sz="2100" i="1" dirty="0" err="1"/>
              <a:t>Threatening</a:t>
            </a:r>
            <a:r>
              <a:rPr lang="de-DE" sz="2100" i="1" dirty="0"/>
              <a:t> Acts (FTAs)</a:t>
            </a:r>
            <a:r>
              <a:rPr lang="de-DE" sz="2100" dirty="0"/>
              <a:t> – also sprachlichen Handlungen, die das „Gesicht“ des Gesprächspartners bedrohen können.</a:t>
            </a:r>
          </a:p>
          <a:p>
            <a:r>
              <a:rPr lang="de-DE" sz="2100" b="1" dirty="0"/>
              <a:t>Zwei Hauptstrategien:</a:t>
            </a:r>
            <a:endParaRPr lang="de-DE" sz="21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100" b="1" dirty="0"/>
              <a:t>Positive Höflichkeit</a:t>
            </a:r>
            <a:r>
              <a:rPr lang="de-DE" sz="2100" dirty="0"/>
              <a:t> → Ausdruck von Nähe, Zustimmung und Solidarität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100" b="1" dirty="0"/>
              <a:t>Negative Höflichkeit</a:t>
            </a:r>
            <a:r>
              <a:rPr lang="de-DE" sz="2100" dirty="0"/>
              <a:t> → Wahrung der Autonomie, Vermeidung von Zumutungen</a:t>
            </a:r>
          </a:p>
          <a:p>
            <a:r>
              <a:rPr lang="de-DE" sz="2100" b="1" dirty="0"/>
              <a:t>Kritikpunkte:</a:t>
            </a:r>
            <a:endParaRPr lang="de-DE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100" dirty="0"/>
              <a:t>Ethnozentrische Ausrichtung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100" dirty="0"/>
              <a:t>Eingeschränkte interkulturelle Anwendbarkeit</a:t>
            </a:r>
          </a:p>
          <a:p>
            <a:r>
              <a:rPr lang="de-DE" sz="2100" b="1" dirty="0"/>
              <a:t>Alternative Ansätze:</a:t>
            </a:r>
            <a:endParaRPr lang="de-DE" sz="21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100" b="1" dirty="0" err="1"/>
              <a:t>Lakoff</a:t>
            </a:r>
            <a:r>
              <a:rPr lang="de-DE" sz="2100" b="1" dirty="0"/>
              <a:t> (1973):</a:t>
            </a:r>
            <a:r>
              <a:rPr lang="de-DE" sz="2100" dirty="0"/>
              <a:t> Regeln der Gesprächshöflichkeit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100" b="1" dirty="0" err="1"/>
              <a:t>Scollon</a:t>
            </a:r>
            <a:r>
              <a:rPr lang="de-DE" sz="2100" b="1" dirty="0"/>
              <a:t> &amp; </a:t>
            </a:r>
            <a:r>
              <a:rPr lang="de-DE" sz="2100" b="1" dirty="0" err="1"/>
              <a:t>Scollon</a:t>
            </a:r>
            <a:r>
              <a:rPr lang="de-DE" sz="2100" b="1" dirty="0"/>
              <a:t> (2001):</a:t>
            </a:r>
            <a:r>
              <a:rPr lang="de-DE" sz="2100" dirty="0"/>
              <a:t> Interkulturelle „</a:t>
            </a:r>
            <a:r>
              <a:rPr lang="de-DE" sz="2100" dirty="0" err="1"/>
              <a:t>face</a:t>
            </a:r>
            <a:r>
              <a:rPr lang="de-DE" sz="2100" dirty="0"/>
              <a:t> </a:t>
            </a:r>
            <a:r>
              <a:rPr lang="de-DE" sz="2100" dirty="0" err="1"/>
              <a:t>systems</a:t>
            </a:r>
            <a:r>
              <a:rPr lang="de-DE" sz="2100" dirty="0"/>
              <a:t>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100" b="1" dirty="0"/>
              <a:t>Spencer-</a:t>
            </a:r>
            <a:r>
              <a:rPr lang="de-DE" sz="2100" b="1" dirty="0" err="1"/>
              <a:t>Oatey</a:t>
            </a:r>
            <a:r>
              <a:rPr lang="de-DE" sz="2100" b="1" dirty="0"/>
              <a:t> (2008):</a:t>
            </a:r>
            <a:r>
              <a:rPr lang="de-DE" sz="2100" dirty="0"/>
              <a:t> </a:t>
            </a:r>
            <a:r>
              <a:rPr lang="de-DE" sz="2100" i="1" dirty="0"/>
              <a:t>Rapport Management</a:t>
            </a:r>
            <a:r>
              <a:rPr lang="de-DE" sz="2100" dirty="0"/>
              <a:t> – Beziehungsorientierter Ansatz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So</a:t>
            </a:r>
            <a:r>
              <a:rPr lang="en-US" dirty="0" err="1"/>
              <a:t>ziologische</a:t>
            </a:r>
            <a:r>
              <a:rPr lang="en-US" dirty="0"/>
              <a:t> </a:t>
            </a:r>
            <a:r>
              <a:rPr lang="en-US" dirty="0" err="1"/>
              <a:t>Perspektive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9238"/>
            <a:ext cx="9070428" cy="5262113"/>
          </a:xfrm>
        </p:spPr>
        <p:txBody>
          <a:bodyPr>
            <a:normAutofit fontScale="92500" lnSpcReduction="20000"/>
          </a:bodyPr>
          <a:lstStyle/>
          <a:p>
            <a:r>
              <a:rPr lang="de-DE" sz="2800" b="1" dirty="0"/>
              <a:t>Funktion der Höflichkeit in der Kommunikation</a:t>
            </a:r>
          </a:p>
          <a:p>
            <a:pPr algn="ctr"/>
            <a:r>
              <a:rPr lang="de-DE" sz="2800" b="1" dirty="0"/>
              <a:t>Grundidee:</a:t>
            </a:r>
          </a:p>
          <a:p>
            <a:pPr marL="0" indent="0" algn="just">
              <a:buNone/>
            </a:pPr>
            <a:r>
              <a:rPr lang="de-DE" sz="2800" dirty="0"/>
              <a:t>Höflichkeit reduziert Aggression und reguliert soziale Interaktionen </a:t>
            </a:r>
            <a:r>
              <a:rPr lang="de-DE" sz="2800" i="1" dirty="0"/>
              <a:t>(Goffman, 1971).</a:t>
            </a:r>
          </a:p>
          <a:p>
            <a:pPr marL="0" indent="0" algn="just">
              <a:buNone/>
            </a:pPr>
            <a:endParaRPr lang="de-DE" sz="2800" dirty="0"/>
          </a:p>
          <a:p>
            <a:pPr algn="ctr"/>
            <a:r>
              <a:rPr lang="de-DE" sz="2800" b="1" dirty="0"/>
              <a:t>Kommunikative Funktion:</a:t>
            </a:r>
          </a:p>
          <a:p>
            <a:pPr marL="0" indent="0" algn="just">
              <a:buNone/>
            </a:pPr>
            <a:r>
              <a:rPr lang="de-DE" sz="2800" dirty="0"/>
              <a:t>Höflichkeit fungiert als </a:t>
            </a:r>
            <a:r>
              <a:rPr lang="de-DE" sz="2800" i="1" dirty="0"/>
              <a:t>semiotisches System</a:t>
            </a:r>
            <a:r>
              <a:rPr lang="de-DE" sz="2800" dirty="0"/>
              <a:t>, das konfliktfreie Kommunikation ermöglicht.</a:t>
            </a:r>
          </a:p>
          <a:p>
            <a:pPr algn="just"/>
            <a:endParaRPr lang="de-DE" sz="2800" b="1" dirty="0"/>
          </a:p>
          <a:p>
            <a:pPr algn="ctr"/>
            <a:r>
              <a:rPr lang="de-DE" sz="2800" b="1" dirty="0"/>
              <a:t>Entwicklung der Forschung:</a:t>
            </a:r>
          </a:p>
          <a:p>
            <a:pPr marL="0" indent="0" algn="just">
              <a:buNone/>
            </a:pPr>
            <a:r>
              <a:rPr lang="de-DE" sz="2800" dirty="0"/>
              <a:t>Verschiebung des Fokus von der </a:t>
            </a:r>
            <a:r>
              <a:rPr lang="de-DE" sz="2800" i="1" dirty="0"/>
              <a:t>Satzebene</a:t>
            </a:r>
            <a:r>
              <a:rPr lang="de-DE" sz="2800" dirty="0"/>
              <a:t> zur </a:t>
            </a:r>
            <a:r>
              <a:rPr lang="de-DE" sz="2800" i="1" dirty="0"/>
              <a:t>Diskursebene</a:t>
            </a:r>
            <a:r>
              <a:rPr lang="de-DE" sz="2800" dirty="0"/>
              <a:t> </a:t>
            </a:r>
            <a:r>
              <a:rPr lang="de-DE" sz="2800" i="1" dirty="0"/>
              <a:t>(Mills, 2003).</a:t>
            </a:r>
            <a:endParaRPr lang="de-DE" sz="2800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242203"/>
            <a:ext cx="9490840" cy="5873299"/>
          </a:xfrm>
        </p:spPr>
        <p:txBody>
          <a:bodyPr>
            <a:noAutofit/>
          </a:bodyPr>
          <a:lstStyle/>
          <a:p>
            <a:r>
              <a:rPr lang="de-DE" sz="2400" b="1" dirty="0"/>
              <a:t>Soziolinguistischer Kontext: Nordmazedonien</a:t>
            </a:r>
          </a:p>
          <a:p>
            <a:endParaRPr lang="de-DE" sz="800" b="1" dirty="0"/>
          </a:p>
          <a:p>
            <a:r>
              <a:rPr lang="de-DE" sz="2400" b="1" dirty="0"/>
              <a:t>Gesellschaftlicher Rahmen:</a:t>
            </a:r>
            <a:br>
              <a:rPr lang="de-DE" sz="2400" dirty="0"/>
            </a:br>
            <a:r>
              <a:rPr lang="de-DE" sz="2400" dirty="0"/>
              <a:t>Nordmazedonien ist ein mehrsprachiges und multiethnisches Land.</a:t>
            </a:r>
          </a:p>
          <a:p>
            <a:endParaRPr lang="de-DE" sz="800" b="1" dirty="0"/>
          </a:p>
          <a:p>
            <a:r>
              <a:rPr lang="de-DE" sz="2400" b="1" dirty="0"/>
              <a:t>Sprachlandschaft:</a:t>
            </a:r>
            <a:br>
              <a:rPr lang="de-DE" sz="2400" dirty="0"/>
            </a:br>
            <a:r>
              <a:rPr lang="de-DE" sz="2400" dirty="0"/>
              <a:t>Mazedonisch, Albanisch, Türkisch, Englisch und Deutsch sind zentrale Sprachen im Bildungs- und Alltagskontext.</a:t>
            </a:r>
          </a:p>
          <a:p>
            <a:endParaRPr lang="de-DE" sz="800" b="1" dirty="0"/>
          </a:p>
          <a:p>
            <a:r>
              <a:rPr lang="de-DE" sz="2400" b="1" dirty="0"/>
              <a:t>Forschungslücke:</a:t>
            </a:r>
            <a:br>
              <a:rPr lang="de-DE" sz="2400" dirty="0"/>
            </a:br>
            <a:r>
              <a:rPr lang="de-DE" sz="2400" dirty="0"/>
              <a:t>Es gibt nur begrenzte Untersuchungen zur Rolle </a:t>
            </a:r>
            <a:r>
              <a:rPr lang="de-DE" sz="2400" i="1" dirty="0"/>
              <a:t>von Ethnizität und Höflichkeit </a:t>
            </a:r>
            <a:r>
              <a:rPr lang="de-DE" sz="2400" dirty="0"/>
              <a:t>in der akademischen Kommunikation im Balkanraum.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725104" cy="1320800"/>
          </a:xfrm>
        </p:spPr>
        <p:txBody>
          <a:bodyPr>
            <a:normAutofit/>
          </a:bodyPr>
          <a:lstStyle/>
          <a:p>
            <a:r>
              <a:rPr lang="en-US" dirty="0" err="1"/>
              <a:t>Ziele</a:t>
            </a:r>
            <a:r>
              <a:rPr dirty="0"/>
              <a:t> </a:t>
            </a:r>
            <a:r>
              <a:rPr lang="en-US" dirty="0"/>
              <a:t>&amp; </a:t>
            </a:r>
            <a:r>
              <a:rPr lang="en-US" dirty="0" err="1"/>
              <a:t>Forschungsfragen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00100509-2A47-4892-ADC4-B7AB16362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697" y="3992711"/>
            <a:ext cx="734841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mk-MK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mk-MK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mk-MK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Forschungsziele</a:t>
            </a:r>
            <a:endParaRPr kumimoji="0" lang="mk-MK" altLang="mk-MK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Identifizierung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Höflichkeitsstrategien</a:t>
            </a:r>
            <a:endParaRPr kumimoji="0" lang="mk-MK" altLang="mk-M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Einflusses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Ethnizität</a:t>
            </a:r>
            <a:endParaRPr kumimoji="0" lang="mk-MK" altLang="mk-M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Bewertung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pragmatischen</a:t>
            </a:r>
            <a:r>
              <a:rPr kumimoji="0" lang="mk-MK" altLang="mk-M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Kompetenz</a:t>
            </a:r>
            <a:endParaRPr kumimoji="0" lang="mk-MK" altLang="mk-MK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C43B0BD-0CE0-4D6B-BF2A-AAF3CB565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211" y="1898012"/>
            <a:ext cx="780849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Forschungsfragen</a:t>
            </a:r>
            <a:endParaRPr kumimoji="0" lang="mk-MK" altLang="mk-MK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Welche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Höflichkeitsstrategien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werden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verwendet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wird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wahrgenommen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b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beeinflusst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ethnische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Zugehörigkeit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sprachliche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Auswahl</a:t>
            </a:r>
            <a:r>
              <a:rPr kumimoji="0" lang="mk-MK" altLang="mk-MK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36634"/>
            <a:ext cx="7798677" cy="798787"/>
          </a:xfrm>
        </p:spPr>
        <p:txBody>
          <a:bodyPr>
            <a:normAutofit/>
          </a:bodyPr>
          <a:lstStyle/>
          <a:p>
            <a:r>
              <a:rPr sz="4000" dirty="0" err="1"/>
              <a:t>Methodolog</a:t>
            </a:r>
            <a:r>
              <a:rPr lang="en-US" sz="4000" dirty="0" err="1"/>
              <a:t>ie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9011" y="1095556"/>
            <a:ext cx="9475769" cy="5762444"/>
          </a:xfrm>
        </p:spPr>
        <p:txBody>
          <a:bodyPr>
            <a:normAutofit lnSpcReduction="10000"/>
          </a:bodyPr>
          <a:lstStyle/>
          <a:p>
            <a:r>
              <a:rPr lang="en-US" sz="2400" b="1" dirty="0" err="1"/>
              <a:t>Forschungsmethodik</a:t>
            </a:r>
            <a:r>
              <a:rPr lang="en-US" sz="2400" b="1" dirty="0"/>
              <a:t> / </a:t>
            </a:r>
            <a:r>
              <a:rPr lang="en-US" sz="2400" b="1" dirty="0" err="1"/>
              <a:t>Forschungsdesign</a:t>
            </a:r>
            <a:r>
              <a:rPr lang="en-US" sz="2400" b="1" dirty="0"/>
              <a:t>: </a:t>
            </a:r>
            <a:r>
              <a:rPr lang="en-US" sz="2400" dirty="0"/>
              <a:t>Qualitative </a:t>
            </a:r>
            <a:r>
              <a:rPr lang="en-US" sz="2400" dirty="0" err="1"/>
              <a:t>Studie</a:t>
            </a:r>
            <a:endParaRPr lang="en-US" sz="2400" dirty="0"/>
          </a:p>
          <a:p>
            <a:endParaRPr lang="en-US" sz="2400" b="1" dirty="0"/>
          </a:p>
          <a:p>
            <a:r>
              <a:rPr lang="en-US" sz="2400" b="1" dirty="0" err="1"/>
              <a:t>Probanden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/>
              <a:t>60 </a:t>
            </a:r>
            <a:r>
              <a:rPr lang="en-US" sz="2400" dirty="0" err="1"/>
              <a:t>Studierende</a:t>
            </a:r>
            <a:r>
              <a:rPr lang="en-US" sz="2400" dirty="0"/>
              <a:t> (30 </a:t>
            </a:r>
            <a:r>
              <a:rPr lang="en-US" sz="2400" dirty="0" err="1"/>
              <a:t>albanischsprachige</a:t>
            </a:r>
            <a:r>
              <a:rPr lang="en-US" sz="2400" dirty="0"/>
              <a:t> &amp; 30 </a:t>
            </a:r>
            <a:r>
              <a:rPr lang="en-US" sz="2400" dirty="0" err="1"/>
              <a:t>mazedonischsprachige</a:t>
            </a:r>
            <a:r>
              <a:rPr lang="en-US" sz="2400" dirty="0"/>
              <a:t>)</a:t>
            </a:r>
          </a:p>
          <a:p>
            <a:r>
              <a:rPr lang="en-US" sz="2400" b="1" dirty="0" err="1"/>
              <a:t>Studienorte</a:t>
            </a:r>
            <a:r>
              <a:rPr lang="en-US" sz="2400" dirty="0"/>
              <a:t>: Universität </a:t>
            </a:r>
            <a:r>
              <a:rPr lang="en-US" sz="2400" dirty="0" err="1"/>
              <a:t>Goce</a:t>
            </a:r>
            <a:r>
              <a:rPr lang="en-US" sz="2400" dirty="0"/>
              <a:t> </a:t>
            </a:r>
            <a:r>
              <a:rPr lang="en-US" sz="2400" dirty="0" err="1"/>
              <a:t>Delčev</a:t>
            </a:r>
            <a:r>
              <a:rPr lang="en-US" sz="2400" dirty="0"/>
              <a:t> (</a:t>
            </a:r>
            <a:r>
              <a:rPr lang="en-US" sz="2400" dirty="0" err="1"/>
              <a:t>Štip</a:t>
            </a:r>
            <a:r>
              <a:rPr lang="en-US" sz="2400" dirty="0"/>
              <a:t>) &amp; </a:t>
            </a:r>
            <a:r>
              <a:rPr lang="en-US" sz="2200" dirty="0" err="1"/>
              <a:t>Südosteuropäische</a:t>
            </a:r>
            <a:r>
              <a:rPr lang="en-US" sz="2400" dirty="0"/>
              <a:t> Universität (Tetovo)</a:t>
            </a:r>
          </a:p>
          <a:p>
            <a:endParaRPr lang="en-US" sz="2400" b="1" dirty="0"/>
          </a:p>
          <a:p>
            <a:r>
              <a:rPr lang="en-US" sz="2400" b="1" dirty="0" err="1"/>
              <a:t>Erhebungsmethoden</a:t>
            </a:r>
            <a:r>
              <a:rPr lang="en-US" sz="2400" b="1" dirty="0"/>
              <a:t>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Schriftliche</a:t>
            </a:r>
            <a:r>
              <a:rPr lang="en-US" sz="2400" dirty="0"/>
              <a:t> </a:t>
            </a:r>
            <a:r>
              <a:rPr lang="en-US" sz="2400" dirty="0" err="1"/>
              <a:t>Szenarien</a:t>
            </a:r>
            <a:r>
              <a:rPr lang="en-US" sz="2400" dirty="0"/>
              <a:t>, Interviews, </a:t>
            </a:r>
            <a:r>
              <a:rPr lang="en-US" sz="2400" dirty="0" err="1"/>
              <a:t>Reflexionsprotokolle</a:t>
            </a:r>
            <a:endParaRPr lang="en-US" sz="2400" dirty="0"/>
          </a:p>
          <a:p>
            <a:endParaRPr lang="en-US" sz="2400" b="1" dirty="0"/>
          </a:p>
          <a:p>
            <a:r>
              <a:rPr lang="en-US" sz="2400" b="1" dirty="0" err="1"/>
              <a:t>Analyseverfahren</a:t>
            </a:r>
            <a:r>
              <a:rPr lang="en-US" sz="2400" b="1" dirty="0"/>
              <a:t>:</a:t>
            </a:r>
            <a:br>
              <a:rPr lang="en-US" sz="2400" dirty="0"/>
            </a:br>
            <a:r>
              <a:rPr lang="en-US" sz="2400" dirty="0" err="1"/>
              <a:t>Inhaltsanalyse</a:t>
            </a:r>
            <a:r>
              <a:rPr lang="en-US" sz="2400" dirty="0"/>
              <a:t> auf Basis des </a:t>
            </a:r>
            <a:r>
              <a:rPr lang="en-US" sz="2400" dirty="0" err="1"/>
              <a:t>Modells</a:t>
            </a:r>
            <a:r>
              <a:rPr lang="en-US" sz="2400" dirty="0"/>
              <a:t> von </a:t>
            </a:r>
            <a:r>
              <a:rPr lang="en-US" sz="2400" i="1" dirty="0"/>
              <a:t>Brown &amp; Levinson (1987)</a:t>
            </a:r>
            <a:endParaRPr lang="en-US" sz="2400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</a:t>
            </a:r>
            <a:r>
              <a:rPr lang="en-US" dirty="0" err="1"/>
              <a:t>robanden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242204"/>
            <a:ext cx="7924802" cy="4799159"/>
          </a:xfrm>
        </p:spPr>
        <p:txBody>
          <a:bodyPr/>
          <a:lstStyle/>
          <a:p>
            <a:r>
              <a:rPr lang="de-DE" b="1" dirty="0"/>
              <a:t>Teilnehmerprofil</a:t>
            </a:r>
          </a:p>
          <a:p>
            <a:pPr marL="0" indent="0">
              <a:buNone/>
            </a:pPr>
            <a:endParaRPr lang="de-DE" b="1" dirty="0"/>
          </a:p>
          <a:p>
            <a:r>
              <a:rPr lang="de-DE" b="1" dirty="0"/>
              <a:t>Alter:</a:t>
            </a:r>
            <a:r>
              <a:rPr lang="de-DE" dirty="0"/>
              <a:t> 19–28 Jahre</a:t>
            </a:r>
          </a:p>
          <a:p>
            <a:r>
              <a:rPr lang="de-DE" b="1" dirty="0"/>
              <a:t>Sprachlicher Hintergrund: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Muttersprachen: Mazedonisch und Albanisch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Fremdsprachen: Deutsch und Englisch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Sprachniveau:</a:t>
            </a:r>
            <a:br>
              <a:rPr lang="de-DE" dirty="0"/>
            </a:br>
            <a:r>
              <a:rPr lang="de-DE" dirty="0"/>
              <a:t>Alle Teilnehmenden verfügen über mindestens </a:t>
            </a:r>
            <a:r>
              <a:rPr lang="de-DE" b="1" dirty="0"/>
              <a:t>B2-Niveau in Deutsch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Studienrichtung:</a:t>
            </a:r>
            <a:br>
              <a:rPr lang="de-DE" dirty="0"/>
            </a:br>
            <a:r>
              <a:rPr lang="de-DE" dirty="0"/>
              <a:t>Studierende der Germanistik an den Universitäten in </a:t>
            </a:r>
            <a:r>
              <a:rPr lang="de-DE" dirty="0" err="1"/>
              <a:t>Štip</a:t>
            </a:r>
            <a:r>
              <a:rPr lang="de-DE" dirty="0"/>
              <a:t> und </a:t>
            </a:r>
            <a:r>
              <a:rPr lang="de-DE" dirty="0" err="1"/>
              <a:t>Tetovo</a:t>
            </a:r>
            <a:endParaRPr lang="de-DE" dirty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Szenario</a:t>
            </a:r>
            <a:r>
              <a:rPr lang="en-US" dirty="0"/>
              <a:t> 1: </a:t>
            </a:r>
            <a:r>
              <a:rPr lang="en-US" dirty="0" err="1"/>
              <a:t>Fristverlängerung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72" y="1457864"/>
            <a:ext cx="9522373" cy="5499984"/>
          </a:xfrm>
        </p:spPr>
        <p:txBody>
          <a:bodyPr>
            <a:normAutofit fontScale="92500"/>
          </a:bodyPr>
          <a:lstStyle/>
          <a:p>
            <a:endParaRPr lang="de-DE" b="1" dirty="0"/>
          </a:p>
          <a:p>
            <a:r>
              <a:rPr lang="de-DE" sz="2400" b="1" dirty="0"/>
              <a:t>Ergebnisse: </a:t>
            </a:r>
            <a:r>
              <a:rPr lang="de-DE" sz="2400" dirty="0"/>
              <a:t>Höflichkeitsstrategien nach ethnischer Zugehörigkeit</a:t>
            </a:r>
          </a:p>
          <a:p>
            <a:pPr algn="ctr"/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65 % verwenden direkte Bitten</a:t>
            </a:r>
            <a:br>
              <a:rPr lang="de-DE" sz="2400" dirty="0"/>
            </a:br>
            <a:r>
              <a:rPr lang="de-DE" sz="2400" dirty="0"/>
              <a:t>→ Bevorzugung von Klarheit und pragmatischer Ausdrucksweise</a:t>
            </a:r>
          </a:p>
          <a:p>
            <a:pPr algn="ctr"/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70 % verwenden indirekte bzw. höfliche Bitten</a:t>
            </a:r>
            <a:br>
              <a:rPr lang="de-DE" sz="2400" dirty="0"/>
            </a:br>
            <a:r>
              <a:rPr lang="de-DE" sz="2400" dirty="0"/>
              <a:t>→ Tendenz zu negativer Höflichkeit (Respekt und Distanzwahrung)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900" dirty="0"/>
          </a:p>
          <a:p>
            <a:pPr algn="ctr"/>
            <a:r>
              <a:rPr lang="de-DE" sz="2400" b="1" dirty="0"/>
              <a:t>Interpretation:</a:t>
            </a:r>
          </a:p>
          <a:p>
            <a:pPr algn="just"/>
            <a:r>
              <a:rPr lang="de-DE" sz="2400" dirty="0"/>
              <a:t>Die albanischen Studierenden legen größeren Wert auf Höflichkeitsformen und soziale Rücksicht, während die mazedonischen Studierenden Direktheit und Effizienz bevorzugen.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D02070F-1D5F-4D0D-851A-552F4D58D1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-84432"/>
            <a:ext cx="9101594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mk-MK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Gib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ohne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Konjunktiv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zusätzliche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Höflichkeitsmarker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unhöflich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gemeint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Hilfe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Kannst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morgen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Notizen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schicken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Verwendung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Indikativs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Konjunktivs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vermittelt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Nähe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Gleichrangigkeit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zwischen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Sprecher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Hörer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Begründete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sage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lieber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brauche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einfacher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Metakommentar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kulturell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akzeptierte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reflektiert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Selbstbewusste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Ausdrucksweise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vermeide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Missverständnisse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Wahrnehmung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heißt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unhöflich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sondern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ehrlich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mk-M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Gegenbeispiel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bewusster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Verzicht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auf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indirekte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Formen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benutze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‚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klingt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für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formell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oder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distanziert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259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C8DCEE9-0C05-4D78-A508-A036483132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03120"/>
            <a:ext cx="9280634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Entschuldigung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vielleicht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erklären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Nächstes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sollen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br>
              <a:rPr kumimoji="0" lang="mk-MK" altLang="mk-M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Politenz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Schutz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Hearer-Face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Entschuldigung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Abschwächung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Respektvolle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Distanz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gegenüber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Autoritätspersonen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keine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Umstände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helfen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Hedging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Verringerung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weiß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möglich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aber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…?“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Höflichkeitsstrategie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Betonung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Beziehung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Zeit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kannst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helfen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wäre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sehr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dankbar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Vermeidung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von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Direktheit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Ich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wollte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fragen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vielleicht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Chance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gibt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verschieben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endParaRPr kumimoji="0" lang="en-US" altLang="mk-MK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Explizite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Anerkennung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Höherstellung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</a:t>
            </a:r>
            <a:r>
              <a:rPr kumimoji="0" lang="mk-MK" altLang="mk-M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Gesprächspartners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Professorin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wenn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Ihnen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passt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könnten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Sie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mir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kurz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etwas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mk-MK" altLang="mk-MK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erklären</a:t>
            </a:r>
            <a:r>
              <a:rPr kumimoji="0" lang="mk-MK" altLang="mk-MK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?“</a:t>
            </a: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mk-MK" altLang="mk-M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1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388E9-B9E4-4DF0-88E8-F35C80591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8126083" cy="1320800"/>
          </a:xfrm>
        </p:spPr>
        <p:txBody>
          <a:bodyPr>
            <a:normAutofit fontScale="90000"/>
          </a:bodyPr>
          <a:lstStyle/>
          <a:p>
            <a:r>
              <a:rPr lang="de-DE" sz="2700" dirty="0"/>
              <a:t>Tabelle 1. Präferenzen für Höflichkeitsstrategien bei akademischen Bitten von mazedonischen und albanischen Studierenden</a:t>
            </a:r>
            <a:endParaRPr lang="mk-MK" sz="27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5A065C9-A5F4-4CDF-8CDB-476FD611A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911259"/>
              </p:ext>
            </p:extLst>
          </p:nvPr>
        </p:nvGraphicFramePr>
        <p:xfrm>
          <a:off x="231228" y="2160587"/>
          <a:ext cx="7725102" cy="2960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034">
                  <a:extLst>
                    <a:ext uri="{9D8B030D-6E8A-4147-A177-3AD203B41FA5}">
                      <a16:colId xmlns:a16="http://schemas.microsoft.com/office/drawing/2014/main" val="359944797"/>
                    </a:ext>
                  </a:extLst>
                </a:gridCol>
                <a:gridCol w="2575034">
                  <a:extLst>
                    <a:ext uri="{9D8B030D-6E8A-4147-A177-3AD203B41FA5}">
                      <a16:colId xmlns:a16="http://schemas.microsoft.com/office/drawing/2014/main" val="2361949482"/>
                    </a:ext>
                  </a:extLst>
                </a:gridCol>
                <a:gridCol w="2575034">
                  <a:extLst>
                    <a:ext uri="{9D8B030D-6E8A-4147-A177-3AD203B41FA5}">
                      <a16:colId xmlns:a16="http://schemas.microsoft.com/office/drawing/2014/main" val="972661536"/>
                    </a:ext>
                  </a:extLst>
                </a:gridCol>
              </a:tblGrid>
              <a:tr h="6917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Höflichkeitsstrategie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48503753"/>
                  </a:ext>
                </a:extLst>
              </a:tr>
              <a:tr h="691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Direkte Aufforderung und kurze Erklärung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65% (19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20% (6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3701935"/>
                  </a:ext>
                </a:extLst>
              </a:tr>
              <a:tr h="691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</a:t>
                      </a:r>
                      <a:r>
                        <a:rPr lang="de-DE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kte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höfliche Aufforderung mit Erklärung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25% (7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70% (21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32954562"/>
                  </a:ext>
                </a:extLst>
              </a:tr>
              <a:tr h="6917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Indire</a:t>
                      </a:r>
                      <a:r>
                        <a:rPr lang="de-DE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kte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hints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explicit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k-MK" sz="1800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request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10% (4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10% (3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23827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987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8092967" cy="1320800"/>
          </a:xfrm>
        </p:spPr>
        <p:txBody>
          <a:bodyPr>
            <a:normAutofit fontScale="90000"/>
          </a:bodyPr>
          <a:lstStyle/>
          <a:p>
            <a:r>
              <a:rPr lang="de-DE" dirty="0"/>
              <a:t>Szenario 2: Korrektur durch Kommilitonen</a:t>
            </a:r>
            <a:br>
              <a:rPr lang="de-DE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39614"/>
            <a:ext cx="8534401" cy="5381296"/>
          </a:xfrm>
        </p:spPr>
        <p:txBody>
          <a:bodyPr>
            <a:normAutofit lnSpcReduction="10000"/>
          </a:bodyPr>
          <a:lstStyle/>
          <a:p>
            <a:r>
              <a:rPr lang="de-DE" sz="2400" b="1" dirty="0"/>
              <a:t>Ergebnisse: Korrekturstrategien nach ethnischer Zugehörigkeit</a:t>
            </a:r>
          </a:p>
          <a:p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40 % verwenden direkte Korrektur</a:t>
            </a:r>
            <a:br>
              <a:rPr lang="de-DE" sz="2400" dirty="0"/>
            </a:br>
            <a:r>
              <a:rPr lang="de-DE" sz="2400" dirty="0"/>
              <a:t>→ Offenheit für kritische Rückmeldungen und Diskussion</a:t>
            </a:r>
          </a:p>
          <a:p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80 % verwenden indirekte Hinweise oder schweigen</a:t>
            </a:r>
            <a:br>
              <a:rPr lang="de-DE" sz="2400" dirty="0"/>
            </a:br>
            <a:r>
              <a:rPr lang="de-DE" sz="2400" dirty="0"/>
              <a:t>→ Betonung von Gruppenharmonie und Vermeidung von Konflikten</a:t>
            </a:r>
          </a:p>
          <a:p>
            <a:r>
              <a:rPr lang="de-DE" sz="2400" b="1" dirty="0"/>
              <a:t>Interpretation:</a:t>
            </a:r>
            <a:br>
              <a:rPr lang="de-DE" sz="2400" dirty="0"/>
            </a:br>
            <a:r>
              <a:rPr lang="de-DE" sz="2400" dirty="0"/>
              <a:t>Albanische Studierende priorisieren soziale Harmonie,</a:t>
            </a:r>
            <a:br>
              <a:rPr lang="de-DE" sz="2400" dirty="0"/>
            </a:br>
            <a:r>
              <a:rPr lang="de-DE" sz="2400" dirty="0"/>
              <a:t>während mazedonische Studierende offene Meinungsäußerung und Diskussionsfreude tolerieren.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16B3-D7C4-4070-8EE5-B5F77B16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210098" cy="1320800"/>
          </a:xfrm>
        </p:spPr>
        <p:txBody>
          <a:bodyPr/>
          <a:lstStyle/>
          <a:p>
            <a:r>
              <a:rPr lang="de-DE" sz="1800" dirty="0"/>
              <a:t>Tabelle 2. Strategien der Studierenden bei der Korrektur von Kommilitonen im akademischen Kontext</a:t>
            </a:r>
            <a:br>
              <a:rPr lang="mk-M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mk-MK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1EE157C-FBEC-49C4-974C-96391311B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966109"/>
              </p:ext>
            </p:extLst>
          </p:nvPr>
        </p:nvGraphicFramePr>
        <p:xfrm>
          <a:off x="73573" y="1355834"/>
          <a:ext cx="8103473" cy="41305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1960">
                  <a:extLst>
                    <a:ext uri="{9D8B030D-6E8A-4147-A177-3AD203B41FA5}">
                      <a16:colId xmlns:a16="http://schemas.microsoft.com/office/drawing/2014/main" val="2432858237"/>
                    </a:ext>
                  </a:extLst>
                </a:gridCol>
                <a:gridCol w="2601133">
                  <a:extLst>
                    <a:ext uri="{9D8B030D-6E8A-4147-A177-3AD203B41FA5}">
                      <a16:colId xmlns:a16="http://schemas.microsoft.com/office/drawing/2014/main" val="3060333188"/>
                    </a:ext>
                  </a:extLst>
                </a:gridCol>
                <a:gridCol w="2840380">
                  <a:extLst>
                    <a:ext uri="{9D8B030D-6E8A-4147-A177-3AD203B41FA5}">
                      <a16:colId xmlns:a16="http://schemas.microsoft.com/office/drawing/2014/main" val="3324073870"/>
                    </a:ext>
                  </a:extLst>
                </a:gridCol>
              </a:tblGrid>
              <a:tr h="11682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Strateg</a:t>
                      </a:r>
                      <a:r>
                        <a:rPr lang="en-US" sz="18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de-DE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 = 30)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36250692"/>
                  </a:ext>
                </a:extLst>
              </a:tr>
              <a:tr h="987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 err="1"/>
                        <a:t>direkte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Korrektur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40% (12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20% (6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93437273"/>
                  </a:ext>
                </a:extLst>
              </a:tr>
              <a:tr h="987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b="1" dirty="0" err="1"/>
                        <a:t>indirekter</a:t>
                      </a:r>
                      <a:r>
                        <a:rPr lang="en-US" sz="1800" b="1" dirty="0"/>
                        <a:t> </a:t>
                      </a:r>
                      <a:r>
                        <a:rPr lang="en-US" sz="1800" b="1" dirty="0" err="1"/>
                        <a:t>Vorschlag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35% (11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40% (12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02448638"/>
                  </a:ext>
                </a:extLst>
              </a:tr>
              <a:tr h="9874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 err="1"/>
                        <a:t>Schweigen</a:t>
                      </a:r>
                      <a:r>
                        <a:rPr lang="en-US" sz="1800" dirty="0"/>
                        <a:t> / </a:t>
                      </a:r>
                      <a:r>
                        <a:rPr lang="en-US" sz="1800" dirty="0" err="1"/>
                        <a:t>Vermeidung</a:t>
                      </a:r>
                      <a:r>
                        <a:rPr lang="en-US" sz="1800" dirty="0"/>
                        <a:t> / </a:t>
                      </a:r>
                      <a:r>
                        <a:rPr lang="en-US" sz="1800" dirty="0" err="1"/>
                        <a:t>Ausweichen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25% (7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40% (12 </a:t>
                      </a:r>
                      <a:r>
                        <a:rPr lang="de-DE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Stud.</a:t>
                      </a:r>
                      <a:r>
                        <a:rPr lang="mk-MK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mk-MK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9419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48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672553" cy="1320800"/>
          </a:xfrm>
        </p:spPr>
        <p:txBody>
          <a:bodyPr/>
          <a:lstStyle/>
          <a:p>
            <a:r>
              <a:rPr lang="en-US" b="1" dirty="0" err="1"/>
              <a:t>Szenario</a:t>
            </a:r>
            <a:r>
              <a:rPr lang="en-US" b="1" dirty="0"/>
              <a:t> 3: </a:t>
            </a:r>
            <a:r>
              <a:rPr lang="en-US" b="1" dirty="0" err="1"/>
              <a:t>Notizen</a:t>
            </a:r>
            <a:r>
              <a:rPr lang="en-US" b="1" dirty="0"/>
              <a:t> </a:t>
            </a:r>
            <a:r>
              <a:rPr lang="en-US" b="1" dirty="0" err="1"/>
              <a:t>ausleihen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25282"/>
            <a:ext cx="8534401" cy="4942937"/>
          </a:xfrm>
        </p:spPr>
        <p:txBody>
          <a:bodyPr>
            <a:normAutofit fontScale="92500" lnSpcReduction="20000"/>
          </a:bodyPr>
          <a:lstStyle/>
          <a:p>
            <a:r>
              <a:rPr lang="de-DE" sz="2400" b="1" dirty="0"/>
              <a:t>Ergebnisse: </a:t>
            </a:r>
            <a:r>
              <a:rPr lang="de-DE" sz="2400" dirty="0" err="1"/>
              <a:t>Entschuldigungstrategien</a:t>
            </a:r>
            <a:r>
              <a:rPr lang="de-DE" sz="2400" dirty="0"/>
              <a:t> nach ethnischer Zugehörigkeit</a:t>
            </a:r>
          </a:p>
          <a:p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45 % direkte Entschuldigung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35 % höfliche/indirekte Entschuldigung</a:t>
            </a:r>
            <a:br>
              <a:rPr lang="de-DE" sz="2400" dirty="0"/>
            </a:br>
            <a:r>
              <a:rPr lang="de-DE" sz="2400" dirty="0"/>
              <a:t>→ Leicht stärkere Direktheit</a:t>
            </a:r>
          </a:p>
          <a:p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endParaRPr lang="de-DE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25 % direkte Entschuldigung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400" dirty="0"/>
              <a:t>45 % höfliche/indirekte Entschuldigung</a:t>
            </a:r>
            <a:br>
              <a:rPr lang="de-DE" sz="2400" dirty="0"/>
            </a:br>
            <a:r>
              <a:rPr lang="de-DE" sz="2400" dirty="0"/>
              <a:t>→ Größere Vorsicht und Rücksichtnahme</a:t>
            </a:r>
          </a:p>
          <a:p>
            <a:r>
              <a:rPr lang="de-DE" sz="2400" b="1" dirty="0"/>
              <a:t>Interpretation:</a:t>
            </a:r>
          </a:p>
          <a:p>
            <a:r>
              <a:rPr lang="de-DE" sz="2400" dirty="0"/>
              <a:t>Albanische Studierende neigen zu vorsichtiger, indirekter Kommunikation, während mazedonische Studierende tendenziell etwas direkter sind.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27B7-A302-42C2-9E28-9A26D253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8460829" cy="1320800"/>
          </a:xfrm>
        </p:spPr>
        <p:txBody>
          <a:bodyPr>
            <a:normAutofit/>
          </a:bodyPr>
          <a:lstStyle/>
          <a:p>
            <a:r>
              <a:rPr lang="de-DE" sz="1800" dirty="0"/>
              <a:t>Tabelle 3. Bevorzugte Kommunikationsstrategien beim Ausleihen von Notizen von Kommilitonen bei mazedonischen und albanischen Studierenden</a:t>
            </a:r>
            <a:br>
              <a:rPr lang="mk-M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mk-MK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79AE8BB-27BF-438D-8432-15AD4FFF0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7523807"/>
              </p:ext>
            </p:extLst>
          </p:nvPr>
        </p:nvGraphicFramePr>
        <p:xfrm>
          <a:off x="157656" y="2160588"/>
          <a:ext cx="8702565" cy="355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855">
                  <a:extLst>
                    <a:ext uri="{9D8B030D-6E8A-4147-A177-3AD203B41FA5}">
                      <a16:colId xmlns:a16="http://schemas.microsoft.com/office/drawing/2014/main" val="3906674105"/>
                    </a:ext>
                  </a:extLst>
                </a:gridCol>
                <a:gridCol w="2900855">
                  <a:extLst>
                    <a:ext uri="{9D8B030D-6E8A-4147-A177-3AD203B41FA5}">
                      <a16:colId xmlns:a16="http://schemas.microsoft.com/office/drawing/2014/main" val="2633332695"/>
                    </a:ext>
                  </a:extLst>
                </a:gridCol>
                <a:gridCol w="2900855">
                  <a:extLst>
                    <a:ext uri="{9D8B030D-6E8A-4147-A177-3AD203B41FA5}">
                      <a16:colId xmlns:a16="http://schemas.microsoft.com/office/drawing/2014/main" val="4275265425"/>
                    </a:ext>
                  </a:extLst>
                </a:gridCol>
              </a:tblGrid>
              <a:tr h="7339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 err="1">
                          <a:effectLst/>
                        </a:rPr>
                        <a:t>Strateg</a:t>
                      </a:r>
                      <a:r>
                        <a:rPr lang="de-DE" sz="1600" dirty="0" err="1">
                          <a:effectLst/>
                        </a:rPr>
                        <a:t>ie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M</a:t>
                      </a:r>
                      <a:r>
                        <a:rPr lang="de-DE" sz="1600" dirty="0">
                          <a:effectLst/>
                        </a:rPr>
                        <a:t>S</a:t>
                      </a:r>
                      <a:r>
                        <a:rPr lang="mk-MK" sz="1600" dirty="0">
                          <a:effectLst/>
                        </a:rPr>
                        <a:t> (n = 30)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A</a:t>
                      </a:r>
                      <a:r>
                        <a:rPr lang="de-DE" sz="1600" dirty="0"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  </a:t>
                      </a:r>
                      <a:r>
                        <a:rPr lang="mk-MK" sz="1600" dirty="0">
                          <a:effectLst/>
                        </a:rPr>
                        <a:t>(n = 30)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04182927"/>
                  </a:ext>
                </a:extLst>
              </a:tr>
              <a:tr h="7339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 err="1">
                          <a:effectLst/>
                        </a:rPr>
                        <a:t>Di</a:t>
                      </a:r>
                      <a:r>
                        <a:rPr lang="de-DE" sz="1600" dirty="0">
                          <a:effectLst/>
                        </a:rPr>
                        <a:t>rekte Aufforderung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45% (14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25% (8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0756260"/>
                  </a:ext>
                </a:extLst>
              </a:tr>
              <a:tr h="10445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 err="1">
                          <a:effectLst/>
                        </a:rPr>
                        <a:t>Indire</a:t>
                      </a:r>
                      <a:r>
                        <a:rPr lang="de-DE" sz="1600" dirty="0" err="1">
                          <a:effectLst/>
                        </a:rPr>
                        <a:t>kte</a:t>
                      </a:r>
                      <a:r>
                        <a:rPr lang="de-DE" sz="1600" dirty="0">
                          <a:effectLst/>
                        </a:rPr>
                        <a:t> Bemerkung oder Entschuldigung 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20% (6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30% (9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0282318"/>
                  </a:ext>
                </a:extLst>
              </a:tr>
              <a:tr h="104459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de-DE" sz="1600" dirty="0">
                          <a:effectLst/>
                        </a:rPr>
                        <a:t>Höfliche Aufforderung mit Entschuldigung 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35% (10 </a:t>
                      </a:r>
                      <a:r>
                        <a:rPr lang="de-DE" sz="1600" dirty="0">
                          <a:effectLst/>
                        </a:rPr>
                        <a:t>Stud.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mk-MK" sz="1600" dirty="0">
                          <a:effectLst/>
                        </a:rPr>
                        <a:t>45% (13 </a:t>
                      </a:r>
                      <a:r>
                        <a:rPr lang="de-DE" sz="1600" dirty="0">
                          <a:effectLst/>
                        </a:rPr>
                        <a:t>S</a:t>
                      </a:r>
                      <a:r>
                        <a:rPr lang="mk-MK" sz="1600" dirty="0">
                          <a:effectLst/>
                        </a:rPr>
                        <a:t>t</a:t>
                      </a:r>
                      <a:r>
                        <a:rPr lang="en-US" sz="1600" dirty="0" err="1">
                          <a:effectLst/>
                        </a:rPr>
                        <a:t>ud</a:t>
                      </a:r>
                      <a:r>
                        <a:rPr lang="de-DE" sz="1600" dirty="0">
                          <a:effectLst/>
                        </a:rPr>
                        <a:t>.</a:t>
                      </a:r>
                      <a:r>
                        <a:rPr lang="mk-MK" sz="1600" dirty="0">
                          <a:effectLst/>
                        </a:rPr>
                        <a:t>)</a:t>
                      </a:r>
                      <a:endParaRPr lang="mk-MK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7632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094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861739" cy="1320800"/>
          </a:xfrm>
        </p:spPr>
        <p:txBody>
          <a:bodyPr>
            <a:normAutofit/>
          </a:bodyPr>
          <a:lstStyle/>
          <a:p>
            <a:r>
              <a:rPr lang="de-DE" b="1" dirty="0"/>
              <a:t>Schlussfolgerungen &amp; Implikationen</a:t>
            </a:r>
            <a:br>
              <a:rPr lang="de-DE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913" y="1199072"/>
            <a:ext cx="8995169" cy="4842291"/>
          </a:xfrm>
        </p:spPr>
        <p:txBody>
          <a:bodyPr/>
          <a:lstStyle/>
          <a:p>
            <a:endParaRPr lang="de-DE" b="1" dirty="0"/>
          </a:p>
          <a:p>
            <a:r>
              <a:rPr lang="de-DE" b="1" dirty="0"/>
              <a:t>Strategien nach ethnischer Zugehörigkeit: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Albanische Studierende:</a:t>
            </a:r>
            <a:r>
              <a:rPr lang="de-DE" dirty="0"/>
              <a:t> indirekt, höflich, </a:t>
            </a:r>
            <a:r>
              <a:rPr lang="de-DE" i="1" dirty="0"/>
              <a:t>face-</a:t>
            </a:r>
            <a:r>
              <a:rPr lang="de-DE" i="1" dirty="0" err="1"/>
              <a:t>saving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Mazedonische Studierende:</a:t>
            </a:r>
            <a:r>
              <a:rPr lang="de-DE" dirty="0"/>
              <a:t> direkt, pragmatisch, flexibel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Implikationen: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Interkulturelle pragmatische Kompetenz ist entscheidend für erfolgreiche akademische Kommunikation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Notwendigkeit von pädagogischen Maßnahmen, die sprachliche und kulturelle Sensibilität fördern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0B384-F9E2-4A35-920C-6B53BD190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103"/>
            <a:ext cx="9238891" cy="6580369"/>
          </a:xfrm>
        </p:spPr>
        <p:txBody>
          <a:bodyPr>
            <a:normAutofit fontScale="92500" lnSpcReduction="20000"/>
          </a:bodyPr>
          <a:lstStyle/>
          <a:p>
            <a:r>
              <a:rPr lang="de-DE" sz="2400" b="1" dirty="0"/>
              <a:t>Hauptergebnisse:</a:t>
            </a:r>
          </a:p>
          <a:p>
            <a:pPr marL="0" indent="0">
              <a:buNone/>
            </a:pPr>
            <a:endParaRPr lang="de-DE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b="1" dirty="0" err="1"/>
              <a:t>Albanischsprachige</a:t>
            </a:r>
            <a:r>
              <a:rPr lang="de-DE" sz="2400" b="1" dirty="0"/>
              <a:t> Studierende:</a:t>
            </a:r>
            <a:r>
              <a:rPr lang="de-DE" sz="2400" dirty="0"/>
              <a:t> bevorzugen indirekte, höfliche, face-</a:t>
            </a:r>
            <a:r>
              <a:rPr lang="de-DE" sz="2400" dirty="0" err="1"/>
              <a:t>saving</a:t>
            </a:r>
            <a:r>
              <a:rPr lang="de-DE" sz="2400" dirty="0"/>
              <a:t> Strategien in Bitten, Korrekturen und Entschuldigungen.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b="1" dirty="0" err="1"/>
              <a:t>Mazedonischsprachige</a:t>
            </a:r>
            <a:r>
              <a:rPr lang="de-DE" sz="2400" b="1" dirty="0"/>
              <a:t> Studierende:</a:t>
            </a:r>
            <a:r>
              <a:rPr lang="de-DE" sz="2400" dirty="0"/>
              <a:t> tendieren zu direkter, pragmatischer und flexibler Kommunikation.</a:t>
            </a:r>
          </a:p>
          <a:p>
            <a:pPr marL="0" indent="0" algn="just">
              <a:buNone/>
            </a:pPr>
            <a:endParaRPr lang="de-DE" sz="2400" dirty="0"/>
          </a:p>
          <a:p>
            <a:pPr algn="just"/>
            <a:r>
              <a:rPr lang="de-DE" sz="2400" b="1" dirty="0"/>
              <a:t>Implikationen für die Praxis:</a:t>
            </a:r>
            <a:endParaRPr lang="de-DE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Interkulturelle pragmatische Kompetenz ist entscheidend für erfolgreiche akademische Kommunikation.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Notwendig sind pädagogische Maßnahmen, die sprachliche und kulturelle Sensibilität fördern.</a:t>
            </a:r>
          </a:p>
          <a:p>
            <a:pPr marL="0" indent="0" algn="just">
              <a:buNone/>
            </a:pPr>
            <a:endParaRPr lang="de-DE" sz="2400" dirty="0"/>
          </a:p>
          <a:p>
            <a:pPr algn="just"/>
            <a:r>
              <a:rPr lang="de-DE" sz="2400" b="1" dirty="0"/>
              <a:t>Ausblick:</a:t>
            </a:r>
            <a:endParaRPr lang="de-DE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Weitere Forschung zu Interethnizität und Höflichkeit in akademischen Kontexten im Balkanraum.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de-DE" sz="2400" dirty="0"/>
              <a:t>Entwicklung von Lehrmethoden, die direkte und indirekte Kommunikationsstrategien vermitteln und reflektieren.</a:t>
            </a: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143645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96BB-4F05-4846-B218-A0344E91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68166"/>
            <a:ext cx="6347713" cy="714703"/>
          </a:xfrm>
        </p:spPr>
        <p:txBody>
          <a:bodyPr/>
          <a:lstStyle/>
          <a:p>
            <a:r>
              <a:rPr lang="en-US" dirty="0" err="1"/>
              <a:t>Literatur</a:t>
            </a:r>
            <a:endParaRPr lang="mk-M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A1669-DEA6-4347-82B1-406D6BFC2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4098"/>
            <a:ext cx="9238593" cy="5896302"/>
          </a:xfrm>
        </p:spPr>
        <p:txBody>
          <a:bodyPr>
            <a:normAutofit fontScale="25000" lnSpcReduction="20000"/>
          </a:bodyPr>
          <a:lstStyle/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endParaRPr lang="de-DE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Brown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P. &amp;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Levinson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</a:t>
            </a:r>
            <a:r>
              <a:rPr lang="en-US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C. (1987).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universals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mk-MK" sz="7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usage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(2nd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.).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7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Fraser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(1990).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Perspectives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14, 219-236.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Amsterdam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Netherlands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Elsevier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  <a:tabLst>
                <a:tab pos="5731510" algn="r"/>
              </a:tabLs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Goffman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(1971).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York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Harper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Row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Goffman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(1972).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face-work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ritual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interaction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Harmondsworth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Penguin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Haugh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M. (2024).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perspective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(1), 201-226. </a:t>
            </a:r>
            <a:r>
              <a:rPr lang="mk-MK" sz="72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https://doi.org/10.1515/pr-2023-0082</a:t>
            </a:r>
            <a:endParaRPr lang="mk-MK" sz="7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Jucker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A. 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2020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history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English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Middle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Ages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present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Kádár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D.Z., &amp;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House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J. (2021).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Cross-Cultural</a:t>
            </a:r>
            <a:r>
              <a:rPr lang="mk-MK" sz="72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Karafoti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E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2021</a:t>
            </a:r>
            <a:r>
              <a:rPr lang="en-US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Negotiating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preferred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requests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offers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preferred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answer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obviously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mk-MK" sz="7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 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Journal</a:t>
            </a:r>
            <a:r>
              <a:rPr lang="mk-MK" sz="7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7200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7200" i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173. 134–147. </a:t>
            </a:r>
            <a:r>
              <a:rPr lang="mk-MK" sz="72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https://doi.org/10.1016/j.pragma.2020.07.010</a:t>
            </a:r>
            <a:r>
              <a:rPr lang="mk-MK" sz="7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3066457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128C9-B424-4AD3-8094-43211C0D4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" y="546538"/>
            <a:ext cx="8860220" cy="6311462"/>
          </a:xfrm>
        </p:spPr>
        <p:txBody>
          <a:bodyPr>
            <a:normAutofit/>
          </a:bodyPr>
          <a:lstStyle/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Kasper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(1990).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issues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Amsterdam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Netherlands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Elsevier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Kiesling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2022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Stance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stancetaking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Annual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Linguistics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8. 409–426. </a:t>
            </a:r>
            <a:r>
              <a:rPr lang="mk-MK" sz="1800" u="sng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https://doi.org/10.1146/annurev-linguistics-031120-121256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Lakoff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(1973).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minding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your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p’s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q’s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Papers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Ninth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Regional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Meeting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Chicago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Linguistic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Society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292–305).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Chicago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Linguistic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Society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Leech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(2014).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pragmatics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USA: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Oxford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[in English]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Mayring, </a:t>
            </a:r>
            <a:r>
              <a:rPr lang="de-DE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</a:t>
            </a: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(1993). </a:t>
            </a:r>
            <a:r>
              <a:rPr lang="de-DE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Qualitative Inhaltsanalyse: Grundlagen und Techniken.</a:t>
            </a:r>
            <a:r>
              <a:rPr lang="de-DE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Weinheim: Deutscher Studien Verlag.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(2003).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Gender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UK: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Cambridge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lnSpc>
                <a:spcPct val="107000"/>
              </a:lnSpc>
              <a:spcBef>
                <a:spcPts val="500"/>
              </a:spcBef>
              <a:spcAft>
                <a:spcPts val="800"/>
              </a:spcAft>
            </a:pP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Scollon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R. &amp; </a:t>
            </a:r>
            <a:r>
              <a:rPr lang="fr-F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Scollon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S.W. (2001</a:t>
            </a:r>
            <a:r>
              <a:rPr lang="fr-FR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Intercultural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Approach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</a:t>
            </a:r>
            <a:r>
              <a:rPr lang="mk-MK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Oxford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Blackwell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Spencer-Oatey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(2008).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Culturally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Speaking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Culture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(2nd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.).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Continuum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69875" indent="-269875" algn="just">
              <a:spcBef>
                <a:spcPts val="500"/>
              </a:spcBef>
              <a:spcAft>
                <a:spcPts val="500"/>
              </a:spcAft>
            </a:pP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Watts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J.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(2003). </a:t>
            </a:r>
            <a:r>
              <a:rPr lang="mk-MK" sz="18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Politeness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Cambridge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University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k-MK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</a:t>
            </a:r>
            <a:r>
              <a:rPr lang="mk-MK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mk-M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788507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2FE0DE-EF70-4861-A5F5-A9720F53577F}"/>
              </a:ext>
            </a:extLst>
          </p:cNvPr>
          <p:cNvSpPr/>
          <p:nvPr/>
        </p:nvSpPr>
        <p:spPr>
          <a:xfrm>
            <a:off x="704193" y="1618593"/>
            <a:ext cx="6347713" cy="42461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Vielen</a:t>
            </a:r>
            <a:r>
              <a:rPr lang="en-US" sz="2800" dirty="0"/>
              <a:t> Dank f</a:t>
            </a:r>
            <a:r>
              <a:rPr lang="de-DE" sz="2800" dirty="0" err="1"/>
              <a:t>ür</a:t>
            </a:r>
            <a:r>
              <a:rPr lang="de-DE" sz="2800" dirty="0"/>
              <a:t> Ihre</a:t>
            </a:r>
            <a:r>
              <a:rPr lang="mk-MK" sz="2800"/>
              <a:t> </a:t>
            </a:r>
            <a:r>
              <a:rPr lang="de-DE" sz="2800"/>
              <a:t> </a:t>
            </a:r>
            <a:r>
              <a:rPr lang="de-DE" sz="2800" dirty="0"/>
              <a:t>Aufmerksamkeit !</a:t>
            </a:r>
            <a:endParaRPr lang="mk-MK" sz="2800" dirty="0"/>
          </a:p>
          <a:p>
            <a:pPr algn="ctr"/>
            <a:endParaRPr lang="mk-MK" dirty="0"/>
          </a:p>
        </p:txBody>
      </p:sp>
    </p:spTree>
    <p:extLst>
      <p:ext uri="{BB962C8B-B14F-4D97-AF65-F5344CB8AC3E}">
        <p14:creationId xmlns:p14="http://schemas.microsoft.com/office/powerpoint/2010/main" val="8469048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1748</Words>
  <Application>Microsoft Office PowerPoint</Application>
  <PresentationFormat>On-screen Show (4:3)</PresentationFormat>
  <Paragraphs>217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Liberation Sans</vt:lpstr>
      <vt:lpstr>Roboto</vt:lpstr>
      <vt:lpstr>Times New Roman</vt:lpstr>
      <vt:lpstr>Trebuchet MS</vt:lpstr>
      <vt:lpstr>Wingdings 3</vt:lpstr>
      <vt:lpstr>Facet</vt:lpstr>
      <vt:lpstr> Interkulturelle Pragmatik und Höflichkeit in der akademischen Kommunikation: Eine Fallstudie zur Interaktion von Studierenden im mehrsprachigen Hochschulkontext</vt:lpstr>
      <vt:lpstr>Theoretische Auffassungen</vt:lpstr>
      <vt:lpstr>Soziologische Perspektive </vt:lpstr>
      <vt:lpstr>PowerPoint Presentation</vt:lpstr>
      <vt:lpstr>Ziele &amp; Forschungsfragen</vt:lpstr>
      <vt:lpstr>Methodologie</vt:lpstr>
      <vt:lpstr>Probanden </vt:lpstr>
      <vt:lpstr>Szenario 1: Fristverlängerung</vt:lpstr>
      <vt:lpstr>PowerPoint Presentation</vt:lpstr>
      <vt:lpstr>PowerPoint Presentation</vt:lpstr>
      <vt:lpstr>Tabelle 1. Präferenzen für Höflichkeitsstrategien bei akademischen Bitten von mazedonischen und albanischen Studierenden</vt:lpstr>
      <vt:lpstr>Szenario 2: Korrektur durch Kommilitonen </vt:lpstr>
      <vt:lpstr>Tabelle 2. Strategien der Studierenden bei der Korrektur von Kommilitonen im akademischen Kontext </vt:lpstr>
      <vt:lpstr>Szenario 3: Notizen ausleihen</vt:lpstr>
      <vt:lpstr>Tabelle 3. Bevorzugte Kommunikationsstrategien beim Ausleihen von Notizen von Kommilitonen bei mazedonischen und albanischen Studierenden </vt:lpstr>
      <vt:lpstr>Schlussfolgerungen &amp; Implikationen </vt:lpstr>
      <vt:lpstr>PowerPoint Presentation</vt:lpstr>
      <vt:lpstr>Literatur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Intercultural Pragmatics and Politeness in Language Education: A Case Study of Student Communication in a Multilingual Higher Education Context</dc:title>
  <dc:subject/>
  <dc:creator>Biljana Ivanovska</dc:creator>
  <cp:keywords/>
  <dc:description>generated using python-pptx</dc:description>
  <cp:lastModifiedBy>ppppp</cp:lastModifiedBy>
  <cp:revision>37</cp:revision>
  <dcterms:created xsi:type="dcterms:W3CDTF">2013-01-27T09:14:16Z</dcterms:created>
  <dcterms:modified xsi:type="dcterms:W3CDTF">2026-03-10T13:47:24Z</dcterms:modified>
  <cp:category/>
</cp:coreProperties>
</file>